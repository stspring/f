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</p:sldIdLst>
  <p:sldSz cx="14630400" cy="8229600"/>
  <p:notesSz cx="8229600" cy="14630400"/>
  <p:embeddedFontLst>
    <p:embeddedFont>
      <p:font typeface="Calibri Light" panose="020F0302020204030204" pitchFamily="34" charset="0"/>
      <p:regular r:id="rId37"/>
      <p:italic r:id="rId38"/>
    </p:embeddedFont>
    <p:embeddedFont>
      <p:font typeface="Corsiva" panose="020B0604020202020204" charset="0"/>
      <p:regular r:id="rId39"/>
      <p:bold r:id="rId40"/>
      <p:italic r:id="rId41"/>
      <p:boldItalic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2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483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6424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486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4182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52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7079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648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001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0623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742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099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502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123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4269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2275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1003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928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654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8947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9432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12371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4304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17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099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4553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14948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13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768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91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31520" y="329564"/>
            <a:ext cx="131673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48640" lvl="0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280" lvl="1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645920" lvl="2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743200" lvl="4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291840" lvl="5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840480" lvl="6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389120" lvl="7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937760" lvl="8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5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415636" y="830580"/>
            <a:ext cx="13549746" cy="328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rgbClr val="7030A0"/>
              </a:buClr>
              <a:buSzPts val="9600"/>
            </a:pPr>
            <a:r>
              <a:rPr lang="ru-RU" sz="8000" b="1" dirty="0">
                <a:solidFill>
                  <a:srgbClr val="7030A0"/>
                </a:solidFill>
                <a:latin typeface="Corsiva"/>
                <a:ea typeface="Corsiva"/>
                <a:cs typeface="Corsiva"/>
                <a:sym typeface="Corsiva"/>
              </a:rPr>
              <a:t>Тема 5. Управление расходами организации.</a:t>
            </a:r>
            <a:endParaRPr sz="32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65019" y="4223704"/>
            <a:ext cx="125284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2000" dirty="0" smtClean="0"/>
              <a:t>Общее понятие о расходах и затратах организации. Классификация расходов организации. Состав расходов по текущей, инвестиционной, финансовой деятельности организации. Состав и соотношение расходов и затрат в налоговом и бухгалтерском учете.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Классификация затрат, относимых на себестоимость продукции. Виды себестоимости продукции организации, порядок ее определения. Порядок списания израсходованных материальных активов на себестоимость готовой продукции. Экономические элементы затрат. Условно-постоянные и условно -переменные расходы. Нормируемые и ненормируемые затраты. Смета затрат как информационное обеспечение финансового раздела бизнес-плана организации. </a:t>
            </a:r>
          </a:p>
          <a:p>
            <a:pPr marL="342900" indent="-342900">
              <a:buAutoNum type="arabicPeriod"/>
            </a:pPr>
            <a:r>
              <a:rPr lang="ru-RU" sz="2000" dirty="0" smtClean="0"/>
              <a:t>Управление затратами организации. Методы планирования затрат на производство продукции. Экономический анализ расходов и затрат организации. Финансовый контроль за уровнем и составом расходов и затрат.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62885477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2U1OC00Mj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0"/>
            <a:ext cx="109728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2171701" y="0"/>
            <a:ext cx="10372724" cy="780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1.Понятие </a:t>
            </a:r>
            <a:r>
              <a:rPr lang="ru-RU" sz="2880" b="1" dirty="0"/>
              <a:t>денежных расходов предприятия, их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состав и источники финансирования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2.Затраты </a:t>
            </a:r>
            <a:r>
              <a:rPr lang="ru-RU" sz="2880" b="1" dirty="0"/>
              <a:t>на производство. Себестоимость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продукции, работ, услуг.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3.Планирование </a:t>
            </a:r>
            <a:r>
              <a:rPr lang="ru-RU" sz="2880" b="1" dirty="0"/>
              <a:t>затрат на производство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продукции: смета затрат и калькуляция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себестоимости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4.Планирование </a:t>
            </a:r>
            <a:r>
              <a:rPr lang="ru-RU" sz="2880" b="1" dirty="0"/>
              <a:t>затрат, приходящихся на объем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реализуемой продукции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5.Контроль </a:t>
            </a:r>
            <a:r>
              <a:rPr lang="ru-RU" sz="2880" b="1" dirty="0"/>
              <a:t>и регулирование затрат на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производство и реализацию продукции, работ,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услуг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6.Проблемы </a:t>
            </a:r>
            <a:r>
              <a:rPr lang="ru-RU" sz="2880" b="1" dirty="0"/>
              <a:t>оптимизации объема и структуры</a:t>
            </a:r>
          </a:p>
          <a:p>
            <a:pPr marL="411480">
              <a:spcBef>
                <a:spcPts val="0"/>
              </a:spcBef>
              <a:buSzPts val="3200"/>
              <a:buNone/>
            </a:pPr>
            <a:r>
              <a:rPr lang="ru-RU" sz="2880" b="1" dirty="0"/>
              <a:t>затрат предприятия и пути их решения</a:t>
            </a:r>
            <a:endParaRPr sz="2880" dirty="0"/>
          </a:p>
        </p:txBody>
      </p:sp>
    </p:spTree>
    <p:extLst>
      <p:ext uri="{BB962C8B-B14F-4D97-AF65-F5344CB8AC3E}">
        <p14:creationId xmlns:p14="http://schemas.microsoft.com/office/powerpoint/2010/main" val="2668879771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2514600" y="771525"/>
            <a:ext cx="9789794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>
              <a:buClr>
                <a:srgbClr val="7030A0"/>
              </a:buClr>
              <a:buSzPts val="2800"/>
            </a:pP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Классификация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денежных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расходов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предприятия</a:t>
            </a:r>
            <a:r>
              <a:rPr lang="ru-RU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и</a:t>
            </a:r>
            <a:r>
              <a:rPr lang="ru-RU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х состав и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источники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финансирования</a:t>
            </a:r>
            <a:r>
              <a:rPr lang="en-US" sz="528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528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97" name="Google Shape;97;p15" descr="Zatratyi-na-pokupku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9250" y="4994911"/>
            <a:ext cx="4846320" cy="32346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2377440" y="2675559"/>
            <a:ext cx="9875520" cy="4675835"/>
          </a:xfrm>
        </p:spPr>
        <p:txBody>
          <a:bodyPr/>
          <a:lstStyle/>
          <a:p>
            <a:pPr marL="137160" indent="0">
              <a:buNone/>
            </a:pPr>
            <a:r>
              <a:rPr lang="ru-RU" dirty="0"/>
              <a:t>- расходы по </a:t>
            </a:r>
            <a:r>
              <a:rPr lang="ru-RU" dirty="0" smtClean="0"/>
              <a:t>текущей </a:t>
            </a:r>
            <a:r>
              <a:rPr lang="ru-RU" dirty="0"/>
              <a:t>деятельности</a:t>
            </a:r>
            <a:br>
              <a:rPr lang="ru-RU" dirty="0"/>
            </a:br>
            <a:r>
              <a:rPr lang="ru-RU" dirty="0" smtClean="0"/>
              <a:t>- расходы </a:t>
            </a:r>
            <a:r>
              <a:rPr lang="ru-RU" dirty="0"/>
              <a:t>по инвестиционной деятельности</a:t>
            </a:r>
            <a:br>
              <a:rPr lang="ru-RU" dirty="0"/>
            </a:br>
            <a:r>
              <a:rPr lang="ru-RU" dirty="0"/>
              <a:t>- расходы по финансовой деятельности</a:t>
            </a:r>
            <a:br>
              <a:rPr lang="ru-RU" dirty="0"/>
            </a:b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3317100384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2171700" y="342901"/>
            <a:ext cx="7200900" cy="668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0070C0"/>
              </a:buClr>
              <a:buSzPts val="3200"/>
              <a:buNone/>
            </a:pPr>
            <a:r>
              <a:rPr lang="en-US" sz="384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уменьшение экономических выгод в течении отчетного периода путем уменьшения активов или увеличения обязательств, ведущие к увеличению собственного капитала организации не связанного с его передачей собственнику имущества и распределением между учредителями.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6" descr="8258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2600" y="0"/>
            <a:ext cx="3429000" cy="6240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3164241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 descr="Расходы-Налоги-и-Долг-40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9175" y="2743200"/>
            <a:ext cx="7972424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5"/>
          <p:cNvSpPr txBox="1">
            <a:spLocks noGrp="1"/>
          </p:cNvSpPr>
          <p:nvPr>
            <p:ph type="body" idx="1"/>
          </p:nvPr>
        </p:nvSpPr>
        <p:spPr>
          <a:xfrm>
            <a:off x="2422534" y="326930"/>
            <a:ext cx="9875520" cy="54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стоимость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ресурсов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потребленных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организацией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процессе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реализации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услуг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организация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предполагает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выгод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будущих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периодах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438772"/>
      </p:ext>
    </p:extLst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343150" y="342900"/>
            <a:ext cx="10201274" cy="402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0070C0"/>
              </a:buClr>
              <a:buSzPts val="3200"/>
              <a:buNone/>
            </a:pPr>
            <a:r>
              <a:rPr lang="en-US" sz="384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Текущая деятельность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является основной приносящей доход деятельность организации, прочая деятельность, не относящаяся к финансовой и инвестиционной.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8" descr="2012_05_15_14.40.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6651" y="3337560"/>
            <a:ext cx="5314950" cy="48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descr="picture2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3343275"/>
            <a:ext cx="5657850" cy="4886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12498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Расходы по текущей деятельности</a:t>
            </a:r>
            <a:endParaRPr lang="be-BY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360" dirty="0"/>
              <a:t>себестоимость реализованной продукции (работ, услуг):</a:t>
            </a:r>
          </a:p>
          <a:p>
            <a:pPr marL="137160" indent="0">
              <a:buNone/>
            </a:pPr>
            <a:r>
              <a:rPr lang="ru-RU" sz="3360" dirty="0"/>
              <a:t>       - прямые и косвенные затраты</a:t>
            </a:r>
          </a:p>
          <a:p>
            <a:pPr marL="137160" indent="0">
              <a:buNone/>
            </a:pPr>
            <a:r>
              <a:rPr lang="ru-RU" sz="3360" dirty="0"/>
              <a:t>       -постоянные и переменные затраты</a:t>
            </a:r>
          </a:p>
          <a:p>
            <a:r>
              <a:rPr lang="ru-RU" sz="3360" dirty="0"/>
              <a:t>управленческие расходы</a:t>
            </a:r>
          </a:p>
          <a:p>
            <a:r>
              <a:rPr lang="ru-RU" sz="3360" dirty="0"/>
              <a:t>расходы на реализацию</a:t>
            </a:r>
          </a:p>
          <a:p>
            <a:r>
              <a:rPr lang="ru-RU" sz="3360" dirty="0"/>
              <a:t>п</a:t>
            </a:r>
            <a:r>
              <a:rPr lang="ru-RU" sz="3360" dirty="0"/>
              <a:t>рочие расходы по текущей деятельности</a:t>
            </a:r>
          </a:p>
          <a:p>
            <a:endParaRPr lang="ru-RU" dirty="0" smtClean="0"/>
          </a:p>
          <a:p>
            <a:pPr marL="137160" indent="0">
              <a:buNone/>
            </a:pPr>
            <a:r>
              <a:rPr lang="ru-RU" sz="2400" dirty="0"/>
              <a:t>Покрываются за счет выручки от реализации продукции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94934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 descr="361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3400" y="685800"/>
            <a:ext cx="46482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2085975" y="342900"/>
            <a:ext cx="728662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>
              <a:spcBef>
                <a:spcPts val="0"/>
              </a:spcBef>
              <a:buClr>
                <a:srgbClr val="262673"/>
              </a:buClr>
              <a:buSzPts val="3200"/>
              <a:buNone/>
            </a:pPr>
            <a:r>
              <a:rPr lang="en-US" sz="3840" b="1" dirty="0" err="1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Инвестиционная</a:t>
            </a:r>
            <a:r>
              <a:rPr lang="en-US" sz="3840" b="1" dirty="0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b="1" dirty="0" err="1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840" b="1" dirty="0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приобретению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</a:t>
            </a:r>
            <a:r>
              <a:rPr lang="ru-RU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прочему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выбытию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средств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нематериальных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активов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доходных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вложений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материальные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активы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вложения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долгосрочные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активы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2313699"/>
      </p:ext>
    </p:extLst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e-BY" dirty="0"/>
              <a:t>Расходы по </a:t>
            </a:r>
            <a:r>
              <a:rPr lang="be-BY" dirty="0" smtClean="0"/>
              <a:t>инвестиционной </a:t>
            </a:r>
            <a:r>
              <a:rPr lang="be-BY" dirty="0"/>
              <a:t>деятельности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Реализация и выбытие инвестиционных активов</a:t>
            </a:r>
          </a:p>
          <a:p>
            <a:r>
              <a:rPr lang="ru-RU" dirty="0" smtClean="0"/>
              <a:t>Участие в совместной деятельности</a:t>
            </a:r>
          </a:p>
          <a:p>
            <a:r>
              <a:rPr lang="ru-RU" dirty="0" smtClean="0"/>
              <a:t>Изменение стоимости инвестиционных активов в результате переоценки и др.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sz="3360" dirty="0"/>
              <a:t>Покрываются за счет соответствующих им доходов и прибыли организации</a:t>
            </a:r>
            <a:endParaRPr lang="be-BY" sz="3360" dirty="0"/>
          </a:p>
        </p:txBody>
      </p:sp>
    </p:spTree>
    <p:extLst>
      <p:ext uri="{BB962C8B-B14F-4D97-AF65-F5344CB8AC3E}">
        <p14:creationId xmlns:p14="http://schemas.microsoft.com/office/powerpoint/2010/main" val="391511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descr="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2680334"/>
            <a:ext cx="10972800" cy="558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343151" y="342901"/>
            <a:ext cx="9772650" cy="372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algn="just">
              <a:buClr>
                <a:srgbClr val="FF0000"/>
              </a:buClr>
              <a:buSzPts val="2800"/>
            </a:pPr>
            <a:r>
              <a:rPr lang="en-US" sz="336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Финансовая</a:t>
            </a:r>
            <a:r>
              <a:rPr lang="en-US" sz="336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приводящая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изменением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величины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внесенного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собственного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капитала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обязательств</a:t>
            </a:r>
            <a:r>
              <a:rPr lang="ru-RU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кредитов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займов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иных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аналогичных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обязательств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указанная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относится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текущей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соответствии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учетной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политикой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60" dirty="0"/>
          </a:p>
        </p:txBody>
      </p:sp>
    </p:spTree>
    <p:extLst>
      <p:ext uri="{BB962C8B-B14F-4D97-AF65-F5344CB8AC3E}">
        <p14:creationId xmlns:p14="http://schemas.microsoft.com/office/powerpoint/2010/main" val="3045948862"/>
      </p:ext>
    </p:extLst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e-BY" dirty="0"/>
              <a:t>Расходы по </a:t>
            </a:r>
            <a:r>
              <a:rPr lang="be-BY" dirty="0" smtClean="0"/>
              <a:t>финансовой </a:t>
            </a:r>
            <a:r>
              <a:rPr lang="be-BY" dirty="0"/>
              <a:t>деятельности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Проценты, подлежащие к уплате за пользование кредитами, займами</a:t>
            </a:r>
          </a:p>
          <a:p>
            <a:r>
              <a:rPr lang="ru-RU" dirty="0" smtClean="0"/>
              <a:t>Платежи за аренду и лизинг имущества</a:t>
            </a:r>
          </a:p>
          <a:p>
            <a:r>
              <a:rPr lang="ru-RU" dirty="0" smtClean="0"/>
              <a:t>Курсовые разницы, возникающие от пересчета активов и обязательств, выраженных в иностранной валюте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sz="2400" dirty="0"/>
              <a:t>Покрываются за счет доходов в виде курсовых разниц от пересчета активов и обязательств и прочих доходов от финансовой деятельности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302024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7440" y="269440"/>
            <a:ext cx="9875520" cy="1371600"/>
          </a:xfrm>
        </p:spPr>
        <p:txBody>
          <a:bodyPr/>
          <a:lstStyle/>
          <a:p>
            <a:r>
              <a:rPr lang="ru-RU" sz="3840" dirty="0"/>
              <a:t/>
            </a:r>
            <a:br>
              <a:rPr lang="ru-RU" sz="3840" dirty="0"/>
            </a:br>
            <a:r>
              <a:rPr lang="ru-RU" sz="3840" dirty="0">
                <a:solidFill>
                  <a:srgbClr val="0070C0"/>
                </a:solidFill>
              </a:rPr>
              <a:t>2.Затраты </a:t>
            </a:r>
            <a:r>
              <a:rPr lang="ru-RU" sz="3840" dirty="0">
                <a:solidFill>
                  <a:srgbClr val="0070C0"/>
                </a:solidFill>
              </a:rPr>
              <a:t>на производство. </a:t>
            </a:r>
            <a:r>
              <a:rPr lang="ru-RU" sz="3840" dirty="0">
                <a:solidFill>
                  <a:srgbClr val="0070C0"/>
                </a:solidFill>
              </a:rPr>
              <a:t>Себестоимость продукции</a:t>
            </a:r>
            <a:r>
              <a:rPr lang="ru-RU" sz="3840" dirty="0">
                <a:solidFill>
                  <a:srgbClr val="0070C0"/>
                </a:solidFill>
              </a:rPr>
              <a:t>, работ, </a:t>
            </a:r>
            <a:r>
              <a:rPr lang="ru-RU" sz="3840" dirty="0">
                <a:solidFill>
                  <a:srgbClr val="0070C0"/>
                </a:solidFill>
              </a:rPr>
              <a:t>услуг</a:t>
            </a:r>
            <a:r>
              <a:rPr lang="ru-RU" sz="3840" dirty="0">
                <a:solidFill>
                  <a:srgbClr val="0070C0"/>
                </a:solidFill>
              </a:rPr>
              <a:t/>
            </a:r>
            <a:br>
              <a:rPr lang="ru-RU" sz="3840" dirty="0">
                <a:solidFill>
                  <a:srgbClr val="0070C0"/>
                </a:solidFill>
              </a:rPr>
            </a:br>
            <a:endParaRPr lang="be-BY" sz="3840" dirty="0">
              <a:solidFill>
                <a:srgbClr val="0070C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ru-RU" dirty="0" smtClean="0">
                <a:solidFill>
                  <a:srgbClr val="FF0000"/>
                </a:solidFill>
              </a:rPr>
              <a:t>Затраты на производство включают 5 экономических элементов затрат:</a:t>
            </a:r>
          </a:p>
          <a:p>
            <a:r>
              <a:rPr lang="ru-RU" dirty="0" smtClean="0"/>
              <a:t>материальные </a:t>
            </a:r>
            <a:r>
              <a:rPr lang="ru-RU" dirty="0"/>
              <a:t>затраты</a:t>
            </a:r>
          </a:p>
          <a:p>
            <a:r>
              <a:rPr lang="ru-RU" dirty="0" smtClean="0"/>
              <a:t>затраты </a:t>
            </a:r>
            <a:r>
              <a:rPr lang="ru-RU" dirty="0"/>
              <a:t>на оплату труда</a:t>
            </a:r>
          </a:p>
          <a:p>
            <a:r>
              <a:rPr lang="ru-RU" dirty="0"/>
              <a:t>о</a:t>
            </a:r>
            <a:r>
              <a:rPr lang="ru-RU" dirty="0" smtClean="0"/>
              <a:t>тчисления на социальные нужды (ФСЗН, </a:t>
            </a:r>
            <a:r>
              <a:rPr lang="ru-RU" dirty="0" err="1" smtClean="0"/>
              <a:t>Белгосстрах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dirty="0"/>
              <a:t>а</a:t>
            </a:r>
            <a:r>
              <a:rPr lang="ru-RU" dirty="0" smtClean="0"/>
              <a:t>мортизационные отчисления</a:t>
            </a:r>
          </a:p>
          <a:p>
            <a:r>
              <a:rPr lang="ru-RU" dirty="0"/>
              <a:t>п</a:t>
            </a:r>
            <a:r>
              <a:rPr lang="ru-RU" dirty="0" smtClean="0"/>
              <a:t>рочие затраты</a:t>
            </a:r>
            <a:endParaRPr lang="ru-RU" dirty="0"/>
          </a:p>
          <a:p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123691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 descr="images (1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9726" y="2848594"/>
            <a:ext cx="54006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2257424" y="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rgbClr val="7030A0"/>
              </a:buClr>
              <a:buSzPts val="4400"/>
            </a:pPr>
            <a:r>
              <a:rPr lang="en-US" sz="528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Затраты: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2085975" y="1457325"/>
            <a:ext cx="882967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84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Постоянные затраты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зависят от изменения объема выпущенной продукции (арендная плата, повременная заработная плата, административные расходы)</a:t>
            </a:r>
            <a:endParaRPr/>
          </a:p>
          <a:p>
            <a:pPr marL="411480">
              <a:spcBef>
                <a:spcPts val="768"/>
              </a:spcBef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84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Переменные затраты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прямо пропорциональны объему производства (сырье материалы, топливо и энергия).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5120580"/>
      </p:ext>
    </p:extLst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 descr="detiden_gi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4638" y="3325090"/>
            <a:ext cx="4880759" cy="42157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rgbClr val="FF0000"/>
              </a:buClr>
              <a:buSzPts val="3200"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Содержание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себестоимости продукции, работ, услуг</a:t>
            </a:r>
            <a:endParaRPr dirty="0"/>
          </a:p>
        </p:txBody>
      </p:sp>
      <p:sp>
        <p:nvSpPr>
          <p:cNvPr id="148" name="Google Shape;148;p23"/>
          <p:cNvSpPr txBox="1"/>
          <p:nvPr/>
        </p:nvSpPr>
        <p:spPr>
          <a:xfrm>
            <a:off x="2085975" y="1457325"/>
            <a:ext cx="6943724" cy="64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работ, </a:t>
            </a: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представляет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собой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стоимостную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оценку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процессе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природных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сырья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материалов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топлива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энергии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средств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нематериальных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трудовых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других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затрат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ее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производство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реализацию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60" dirty="0"/>
          </a:p>
        </p:txBody>
      </p:sp>
    </p:spTree>
    <p:extLst>
      <p:ext uri="{BB962C8B-B14F-4D97-AF65-F5344CB8AC3E}">
        <p14:creationId xmlns:p14="http://schemas.microsoft.com/office/powerpoint/2010/main" val="3291761199"/>
      </p:ext>
    </p:extLst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ОЧЕНЬ ВАЖНО РАЗЛИЧАТЬ</a:t>
            </a:r>
            <a:endParaRPr lang="be-BY" dirty="0">
              <a:solidFill>
                <a:srgbClr val="FF00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Себестоимость продукции = затраты на производство ± изменение остатков незавершенного производства ± изменение расходов будущих периодов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296223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 descr="smet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8939" y="1885950"/>
            <a:ext cx="4457700" cy="608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>
              <a:buClr>
                <a:srgbClr val="7030A0"/>
              </a:buClr>
              <a:buSzPts val="3600"/>
            </a:pPr>
            <a:r>
              <a:rPr lang="en-US" sz="3840" b="1" dirty="0">
                <a:solidFill>
                  <a:srgbClr val="7030A0"/>
                </a:solidFill>
                <a:sym typeface="Arial"/>
              </a:rPr>
              <a:t>3. </a:t>
            </a:r>
            <a:r>
              <a:rPr lang="ru-RU" sz="3840" b="1" dirty="0">
                <a:solidFill>
                  <a:srgbClr val="7030A0"/>
                </a:solidFill>
              </a:rPr>
              <a:t>Планирование </a:t>
            </a:r>
            <a:r>
              <a:rPr lang="ru-RU" sz="3840" b="1" dirty="0">
                <a:solidFill>
                  <a:srgbClr val="7030A0"/>
                </a:solidFill>
              </a:rPr>
              <a:t>затрат на </a:t>
            </a:r>
            <a:r>
              <a:rPr lang="ru-RU" sz="3840" b="1" dirty="0">
                <a:solidFill>
                  <a:srgbClr val="7030A0"/>
                </a:solidFill>
              </a:rPr>
              <a:t>производство продукции</a:t>
            </a:r>
            <a:r>
              <a:rPr lang="ru-RU" sz="3840" b="1" dirty="0">
                <a:solidFill>
                  <a:srgbClr val="7030A0"/>
                </a:solidFill>
              </a:rPr>
              <a:t>: смета затрат и </a:t>
            </a:r>
            <a:r>
              <a:rPr lang="ru-RU" sz="3840" b="1" dirty="0">
                <a:solidFill>
                  <a:srgbClr val="7030A0"/>
                </a:solidFill>
              </a:rPr>
              <a:t>калькуляция себестоимости</a:t>
            </a:r>
            <a:endParaRPr lang="ru-RU" sz="3840" b="1" dirty="0">
              <a:solidFill>
                <a:srgbClr val="7030A0"/>
              </a:solidFill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2085975" y="1885950"/>
            <a:ext cx="7372350" cy="6086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SzPts val="2400"/>
              <a:buNone/>
            </a:pPr>
            <a:r>
              <a:rPr lang="en-US" sz="2400" dirty="0">
                <a:solidFill>
                  <a:schemeClr val="dk1"/>
                </a:solidFill>
                <a:sym typeface="Arial"/>
              </a:rPr>
              <a:t>В </a:t>
            </a:r>
            <a:r>
              <a:rPr lang="en-US" sz="2400" dirty="0" err="1">
                <a:solidFill>
                  <a:srgbClr val="FF0000"/>
                </a:solidFill>
                <a:sym typeface="Arial"/>
              </a:rPr>
              <a:t>смете</a:t>
            </a:r>
            <a:r>
              <a:rPr lang="en-US" sz="2400" dirty="0">
                <a:solidFill>
                  <a:srgbClr val="FF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FF0000"/>
                </a:solidFill>
                <a:sym typeface="Arial"/>
              </a:rPr>
              <a:t>затрат</a:t>
            </a:r>
            <a:r>
              <a:rPr lang="en-US" sz="2400" dirty="0">
                <a:solidFill>
                  <a:srgbClr val="FF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на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производство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отражены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элементы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: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материальные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затраты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(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за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вычетом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стоимости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возвратных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доходов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)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затраты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на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оплату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труда</a:t>
            </a:r>
            <a:r>
              <a:rPr lang="ru-RU" sz="2400" dirty="0">
                <a:solidFill>
                  <a:schemeClr val="dk1"/>
                </a:solidFill>
                <a:sym typeface="Arial"/>
              </a:rPr>
              <a:t> (основная и дополнительная)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отчисления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на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социальные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нужды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амортизация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основных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средств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и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нематериальных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активов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,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используемых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предпринимательской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деятельности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прочие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затраты</a:t>
            </a:r>
            <a:endParaRPr sz="2400" dirty="0"/>
          </a:p>
          <a:p>
            <a:pPr marL="411480">
              <a:spcBef>
                <a:spcPts val="576"/>
              </a:spcBef>
              <a:buSzPts val="2400"/>
              <a:buFont typeface="Arial"/>
              <a:buAutoNum type="arabicPeriod"/>
            </a:pPr>
            <a:r>
              <a:rPr lang="en-US" sz="2400" dirty="0" err="1">
                <a:solidFill>
                  <a:schemeClr val="dk1"/>
                </a:solidFill>
                <a:sym typeface="Arial"/>
              </a:rPr>
              <a:t>итого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затрат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на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производство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(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путем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sym typeface="Arial"/>
              </a:rPr>
              <a:t>суммирования</a:t>
            </a:r>
            <a:r>
              <a:rPr lang="en-US" sz="2400" dirty="0">
                <a:solidFill>
                  <a:schemeClr val="dk1"/>
                </a:solidFill>
                <a:sym typeface="Arial"/>
              </a:rPr>
              <a:t>)</a:t>
            </a:r>
            <a:endParaRPr sz="2400" dirty="0"/>
          </a:p>
          <a:p>
            <a:pPr marL="411480" indent="-228600">
              <a:spcBef>
                <a:spcPts val="576"/>
              </a:spcBef>
              <a:buSzPts val="2400"/>
              <a:buNone/>
            </a:pPr>
            <a:endParaRPr sz="288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453127"/>
      </p:ext>
    </p:extLst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 descr="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1075" y="4587240"/>
            <a:ext cx="4200524" cy="3642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2343150" y="342900"/>
            <a:ext cx="1020127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indent="-548640">
              <a:spcBef>
                <a:spcPts val="0"/>
              </a:spcBef>
              <a:buSzPts val="2400"/>
              <a:buFont typeface="Arial"/>
              <a:buAutoNum type="arabicPeriod" startAt="7"/>
            </a:pP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работы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услуги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включаемые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валовую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продукцию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вычитаются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прирост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уменьшение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остатков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незавершенного производства</a:t>
            </a:r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be-BY" sz="2880" dirty="0"/>
              <a:t>прирост (-) уменьшение (+) </a:t>
            </a:r>
            <a:r>
              <a:rPr lang="be-BY" sz="2880" dirty="0"/>
              <a:t>расходов будущих периодов</a:t>
            </a:r>
            <a:endParaRPr sz="2880" dirty="0"/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производственная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товарной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smtClean="0"/>
              <a:t> </a:t>
            </a:r>
            <a:r>
              <a:rPr lang="en-US" sz="2400" dirty="0"/>
              <a:t>(6-7±8±</a:t>
            </a:r>
            <a:r>
              <a:rPr lang="ru-RU" sz="2400" dirty="0"/>
              <a:t>9)</a:t>
            </a:r>
            <a:endParaRPr sz="2400" dirty="0"/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постоянные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управленческие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ru-RU" sz="288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ru-RU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(постоянные расходы)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реализацию</a:t>
            </a:r>
            <a:endParaRPr dirty="0"/>
          </a:p>
          <a:p>
            <a:pPr indent="-548640">
              <a:spcBef>
                <a:spcPts val="576"/>
              </a:spcBef>
              <a:buSzPts val="2400"/>
              <a:buFont typeface="Arial"/>
              <a:buAutoNum type="arabicPeriod" startAt="7"/>
            </a:pP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полная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товарной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10+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11+12</a:t>
            </a:r>
            <a:r>
              <a:rPr lang="en-US" sz="288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550715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chemeClr val="dk2"/>
              </a:buClr>
              <a:buSzPts val="4400"/>
            </a:pPr>
            <a:r>
              <a:rPr lang="en-US" sz="528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Статьи калькуляции: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2085975" y="1371600"/>
            <a:ext cx="10383116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617220" indent="-617220">
              <a:spcBef>
                <a:spcPts val="0"/>
              </a:spcBef>
              <a:buSzPts val="2800"/>
              <a:buFont typeface="Arial"/>
              <a:buAutoNum type="arabicPeriod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сырье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материалы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Font typeface="Arial"/>
              <a:buAutoNum type="arabicPeriod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возвратные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доходы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вычитаются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Font typeface="Arial"/>
              <a:buAutoNum type="arabicPeriod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покупные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комплекты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изделия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полуфабрикаты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услуги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производственного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характера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Font typeface="Arial"/>
              <a:buAutoNum type="arabicPeriod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топливо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энергия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технологические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цели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Font typeface="Arial"/>
              <a:buAutoNum type="arabicPeriod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основная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заработная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плата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производственных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рабочих</a:t>
            </a:r>
            <a:endParaRPr dirty="0"/>
          </a:p>
          <a:p>
            <a:pPr marL="411480" indent="-198120">
              <a:spcBef>
                <a:spcPts val="672"/>
              </a:spcBef>
              <a:buSzPts val="2800"/>
              <a:buNone/>
            </a:pPr>
            <a:endParaRPr sz="336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905281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body" idx="1"/>
          </p:nvPr>
        </p:nvSpPr>
        <p:spPr>
          <a:xfrm>
            <a:off x="2343150" y="600075"/>
            <a:ext cx="9875520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617220" indent="-617220">
              <a:spcBef>
                <a:spcPts val="0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дополнительная заработная плата производственным рабочим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налоги, сборы, отчисления в бюджетные и внебюджетные фонды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расходы на подготовку и освоение новых производств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общепроизводственные расходы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общехозяйственные расходы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потери от брака</a:t>
            </a:r>
            <a:endParaRPr/>
          </a:p>
          <a:p>
            <a:pPr marL="617220" indent="-617220">
              <a:spcBef>
                <a:spcPts val="768"/>
              </a:spcBef>
              <a:buSzPts val="3200"/>
              <a:buFont typeface="Arial"/>
              <a:buAutoNum type="arabicPeriod" startAt="6"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прочие производственные расходы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712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Методы планирования</a:t>
            </a:r>
            <a:endParaRPr lang="be-BY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Прямой:</a:t>
            </a:r>
            <a:r>
              <a:rPr lang="ru-RU" dirty="0" smtClean="0"/>
              <a:t> суммирование затрат по элементам и статьям калькуляции</a:t>
            </a:r>
          </a:p>
          <a:p>
            <a:pPr marL="137160" indent="0">
              <a:buNone/>
            </a:pPr>
            <a:endParaRPr lang="ru-RU" dirty="0" smtClean="0"/>
          </a:p>
          <a:p>
            <a:pPr marL="137160" indent="0">
              <a:buNone/>
            </a:pPr>
            <a:endParaRPr lang="ru-RU" dirty="0"/>
          </a:p>
          <a:p>
            <a:pPr marL="137160" indent="0">
              <a:buNone/>
            </a:pPr>
            <a:r>
              <a:rPr lang="ru-RU" dirty="0" smtClean="0"/>
              <a:t>Высокая степень точности и конкретности на момент осуществления расчетов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27457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9" descr="planning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54855"/>
            <a:ext cx="6515100" cy="3674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748145" y="600075"/>
            <a:ext cx="13217237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>
              <a:spcBef>
                <a:spcPts val="0"/>
              </a:spcBef>
              <a:buClr>
                <a:srgbClr val="7030A0"/>
              </a:buClr>
              <a:buSzPts val="3200"/>
              <a:buNone/>
            </a:pPr>
            <a:r>
              <a:rPr lang="en-US" sz="3840" b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Аналитический</a:t>
            </a:r>
            <a:r>
              <a:rPr lang="en-US" sz="3840" b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r>
              <a:rPr lang="en-US" sz="3840" b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расчета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позволяет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отслеживать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влияние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внешних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внутренних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факторов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уровень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себестоимости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выпускаемой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управлять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ею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реальном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режиме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времени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indent="539114">
              <a:spcBef>
                <a:spcPts val="0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Аналитический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планирования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базируется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распределении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постоянные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896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0" descr="планирование_целей-plan_celey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9574" y="5868663"/>
            <a:ext cx="7505206" cy="23609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>
              <a:buClr>
                <a:srgbClr val="7030A0"/>
              </a:buClr>
              <a:buSzPts val="3600"/>
            </a:pPr>
            <a:r>
              <a:rPr lang="en-US" sz="3840" b="1" dirty="0">
                <a:solidFill>
                  <a:srgbClr val="7030A0"/>
                </a:solidFill>
                <a:sym typeface="Arial"/>
              </a:rPr>
              <a:t>4. </a:t>
            </a:r>
            <a:r>
              <a:rPr lang="ru-RU" sz="3840" b="1" dirty="0">
                <a:solidFill>
                  <a:srgbClr val="7030A0"/>
                </a:solidFill>
              </a:rPr>
              <a:t>Планирование </a:t>
            </a:r>
            <a:r>
              <a:rPr lang="ru-RU" sz="3840" b="1" dirty="0">
                <a:solidFill>
                  <a:srgbClr val="7030A0"/>
                </a:solidFill>
              </a:rPr>
              <a:t>затрат, приходящихся на </a:t>
            </a:r>
            <a:r>
              <a:rPr lang="ru-RU" sz="3840" b="1" dirty="0">
                <a:solidFill>
                  <a:srgbClr val="7030A0"/>
                </a:solidFill>
              </a:rPr>
              <a:t>объем реализуемой </a:t>
            </a:r>
            <a:r>
              <a:rPr lang="ru-RU" sz="3840" b="1" dirty="0">
                <a:solidFill>
                  <a:srgbClr val="7030A0"/>
                </a:solidFill>
              </a:rPr>
              <a:t>продукции</a:t>
            </a:r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225631" y="1628774"/>
            <a:ext cx="109728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00B050"/>
              </a:buClr>
              <a:buSzPts val="2400"/>
              <a:buNone/>
            </a:pP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РП =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Остатки</a:t>
            </a: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нач.года</a:t>
            </a: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+ ТП –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Остатки</a:t>
            </a: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0" b="1" dirty="0" err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кон.года</a:t>
            </a:r>
            <a:r>
              <a:rPr lang="ru-RU" sz="288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(в шт.)</a:t>
            </a:r>
            <a:endParaRPr dirty="0"/>
          </a:p>
          <a:p>
            <a:pPr marL="0" indent="539114">
              <a:spcBef>
                <a:spcPts val="0"/>
              </a:spcBef>
              <a:buSzPts val="2400"/>
              <a:buNone/>
            </a:pPr>
            <a:endParaRPr sz="2880" b="1" dirty="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539114">
              <a:spcBef>
                <a:spcPts val="0"/>
              </a:spcBef>
              <a:buSzPts val="2400"/>
              <a:buNone/>
            </a:pP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реализуемой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равна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поскольку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вся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произведенная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определенном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периоде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товарная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продукция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будет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периоде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indent="539114">
              <a:spcBef>
                <a:spcPts val="0"/>
              </a:spcBef>
              <a:buSzPts val="2400"/>
              <a:buNone/>
            </a:pP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϶ᴛᴏ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должна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ϲᴏᴏᴛ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веᴛϲᴛʙующим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образом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скорректирована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учетом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϶ᴛᴏ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обстоятельства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0" indent="0" algn="ctr">
              <a:spcBef>
                <a:spcPts val="0"/>
              </a:spcBef>
              <a:buSzPts val="2800"/>
              <a:buNone/>
            </a:pPr>
            <a:endParaRPr lang="ru-RU" sz="288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С/С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рп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С/С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остат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+ С/С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тп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С/С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остат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336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</a:t>
            </a:r>
            <a:r>
              <a:rPr lang="en-US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336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(в руб.)</a:t>
            </a:r>
            <a:endParaRPr dirty="0"/>
          </a:p>
          <a:p>
            <a:pPr marL="411480" indent="-198120">
              <a:spcBef>
                <a:spcPts val="672"/>
              </a:spcBef>
              <a:buSzPts val="2800"/>
              <a:buNone/>
            </a:pPr>
            <a:endParaRPr sz="336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8597740"/>
      </p:ext>
    </p:extLst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 descr="fe9931d50def462db0809a17b3588bb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9775" y="1371600"/>
            <a:ext cx="3171824" cy="368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2428874" y="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l">
              <a:buClr>
                <a:srgbClr val="00B050"/>
              </a:buClr>
              <a:buSzPts val="3600"/>
            </a:pPr>
            <a:r>
              <a:rPr lang="en-US" sz="432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Нереализованные остатки готовой продукции включают: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2085975" y="1457325"/>
            <a:ext cx="7715250" cy="565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617220" indent="-617220">
              <a:spcBef>
                <a:spcPts val="0"/>
              </a:spcBef>
              <a:buSzPts val="2800"/>
              <a:buNone/>
            </a:pPr>
            <a:r>
              <a:rPr lang="ru-RU" sz="3360" dirty="0"/>
              <a:t>На начало года: 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ru-RU" sz="336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17220" indent="-617220">
              <a:spcBef>
                <a:spcPts val="0"/>
              </a:spcBef>
              <a:buSzPts val="2800"/>
              <a:buNone/>
            </a:pPr>
            <a:r>
              <a:rPr lang="ru-RU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готовая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складе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FontTx/>
              <a:buChar char="-"/>
            </a:pP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отгруженная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оплаты</a:t>
            </a:r>
            <a:r>
              <a:rPr lang="ru-RU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которой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наступил</a:t>
            </a:r>
            <a:r>
              <a:rPr lang="ru-RU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оплачивается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покупателем</a:t>
            </a:r>
            <a:endParaRPr lang="ru-RU" sz="336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672"/>
              </a:spcBef>
              <a:buSzPts val="2800"/>
              <a:buNone/>
            </a:pPr>
            <a:r>
              <a:rPr lang="ru-RU" sz="3360" dirty="0"/>
              <a:t>На конец года: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None/>
            </a:pP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себестоимость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выходных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остатков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sz="3360" dirty="0"/>
              <a:t>которая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исчисляется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учетом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установленных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предприятии</a:t>
            </a:r>
            <a:r>
              <a:rPr lang="en-US" sz="336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норм</a:t>
            </a:r>
            <a:endParaRPr dirty="0"/>
          </a:p>
          <a:p>
            <a:pPr marL="617220" indent="-617220">
              <a:spcBef>
                <a:spcPts val="672"/>
              </a:spcBef>
              <a:buSzPts val="2800"/>
              <a:buNone/>
            </a:pPr>
            <a:endParaRPr dirty="0"/>
          </a:p>
          <a:p>
            <a:pPr marL="411480" indent="-198120">
              <a:spcBef>
                <a:spcPts val="672"/>
              </a:spcBef>
              <a:buSzPts val="2800"/>
              <a:buNone/>
            </a:pPr>
            <a:endParaRPr sz="336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31" descr="images (1)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7391" y="5057775"/>
            <a:ext cx="3204210" cy="3171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736682"/>
      </p:ext>
    </p:extLst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2" descr="capture-20151218-230715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71851" y="428624"/>
            <a:ext cx="7753350" cy="147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2"/>
          <p:cNvSpPr txBox="1"/>
          <p:nvPr/>
        </p:nvSpPr>
        <p:spPr>
          <a:xfrm>
            <a:off x="2085975" y="2558363"/>
            <a:ext cx="10715624" cy="276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indent="541020">
              <a:buClr>
                <a:schemeClr val="dk1"/>
              </a:buClr>
              <a:buSzPts val="3600"/>
            </a:pP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– </a:t>
            </a:r>
            <a:r>
              <a:rPr lang="ru-RU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 запасов готовой продукции на складе</a:t>
            </a:r>
          </a:p>
          <a:p>
            <a:pPr indent="541020">
              <a:buClr>
                <a:schemeClr val="dk1"/>
              </a:buClr>
              <a:buSzPts val="3600"/>
            </a:pPr>
            <a:endParaRPr lang="ru-RU" sz="43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41020">
              <a:buClr>
                <a:schemeClr val="dk1"/>
              </a:buClr>
              <a:buSzPts val="3600"/>
            </a:pP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Совокупная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запасов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готовой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днях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умножается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однодневный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товарной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производственной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себестоимости</a:t>
            </a:r>
            <a:r>
              <a:rPr lang="en-US" sz="43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60" dirty="0"/>
          </a:p>
        </p:txBody>
      </p:sp>
      <p:pic>
        <p:nvPicPr>
          <p:cNvPr id="208" name="Google Shape;208;p32" descr="faq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0" y="548640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959248"/>
      </p:ext>
    </p:extLst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3" descr="Вопрос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0" y="600075"/>
            <a:ext cx="4800600" cy="762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>
            <a:spLocks noGrp="1"/>
          </p:cNvSpPr>
          <p:nvPr>
            <p:ph type="body" idx="1"/>
          </p:nvPr>
        </p:nvSpPr>
        <p:spPr>
          <a:xfrm>
            <a:off x="2085975" y="257175"/>
            <a:ext cx="6686550" cy="771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FF0000"/>
              </a:buClr>
              <a:buSzPts val="2400"/>
              <a:buNone/>
            </a:pPr>
            <a:r>
              <a:rPr lang="en-US" sz="288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</a:t>
            </a:r>
            <a:r>
              <a:rPr lang="en-US" sz="288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Остатки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нереализованной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января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текущего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производственной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составили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 </a:t>
            </a:r>
            <a:r>
              <a:rPr lang="ru-RU" sz="2880" dirty="0" err="1">
                <a:latin typeface="Times New Roman"/>
                <a:ea typeface="Times New Roman"/>
                <a:cs typeface="Times New Roman"/>
                <a:sym typeface="Times New Roman"/>
              </a:rPr>
              <a:t>тыс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руб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намечено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их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сократить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75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млн.р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запасов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складе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дней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остатки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отгрузке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дней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</a:t>
            </a:r>
            <a:r>
              <a:rPr lang="ru-RU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квартале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планового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производственной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составляет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270 </a:t>
            </a:r>
            <a:r>
              <a:rPr lang="ru-RU" sz="2880" dirty="0" err="1">
                <a:latin typeface="Times New Roman"/>
                <a:ea typeface="Times New Roman"/>
                <a:cs typeface="Times New Roman"/>
                <a:sym typeface="Times New Roman"/>
              </a:rPr>
              <a:t>тыс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р.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Рассчитать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реализованной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планируемый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период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товарной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1 090 </a:t>
            </a:r>
            <a:r>
              <a:rPr lang="ru-RU" sz="2880" dirty="0" err="1">
                <a:latin typeface="Times New Roman"/>
                <a:ea typeface="Times New Roman"/>
                <a:cs typeface="Times New Roman"/>
                <a:sym typeface="Times New Roman"/>
              </a:rPr>
              <a:t>тыс</a:t>
            </a:r>
            <a:r>
              <a:rPr lang="en-US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88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2624267"/>
      </p:ext>
    </p:extLst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chemeClr val="dk2"/>
              </a:buClr>
              <a:buSzPts val="4400"/>
            </a:pPr>
            <a:r>
              <a:rPr lang="en-US" sz="528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Решение:</a:t>
            </a:r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body" idx="1"/>
          </p:nvPr>
        </p:nvSpPr>
        <p:spPr>
          <a:xfrm>
            <a:off x="2085975" y="1920240"/>
            <a:ext cx="1071562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00CC00"/>
              </a:buClr>
              <a:buSzPts val="3200"/>
              <a:buNone/>
            </a:pPr>
            <a:r>
              <a:rPr lang="en-US" sz="3840" dirty="0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С/С </a:t>
            </a:r>
            <a:r>
              <a:rPr lang="en-US" sz="3840" dirty="0" err="1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тп</a:t>
            </a:r>
            <a:r>
              <a:rPr lang="en-US" sz="3840" dirty="0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 = 75+1090+(270*15/90) = 1210 </a:t>
            </a:r>
            <a:r>
              <a:rPr lang="ru-RU" dirty="0" err="1" smtClean="0">
                <a:solidFill>
                  <a:srgbClr val="00CC00"/>
                </a:solidFill>
              </a:rPr>
              <a:t>тыс</a:t>
            </a:r>
            <a:r>
              <a:rPr lang="en-US" sz="3840" dirty="0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840" dirty="0" err="1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руб</a:t>
            </a:r>
            <a:r>
              <a:rPr lang="en-US" sz="3840" dirty="0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21" name="Google Shape;221;p34" descr="загружено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2743200"/>
            <a:ext cx="109728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7802237"/>
      </p:ext>
    </p:extLst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5" descr="neobhodimost-chetko-opredelit-obekty-i-celi_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651" y="4057651"/>
            <a:ext cx="417195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>
              <a:buClr>
                <a:srgbClr val="D60093"/>
              </a:buClr>
              <a:buSzPts val="3200"/>
            </a:pPr>
            <a:r>
              <a:rPr lang="en-US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</a:t>
            </a:r>
            <a: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регулирование затрат на</a:t>
            </a:r>
            <a:b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производство и реализацию продукции, работ,</a:t>
            </a:r>
            <a:b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3360" b="1" dirty="0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</a:t>
            </a:r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2085975" y="1920241"/>
            <a:ext cx="10166984" cy="5709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0033CC"/>
              </a:buClr>
              <a:buSzPts val="3600"/>
              <a:buNone/>
            </a:pPr>
            <a:r>
              <a:rPr lang="en-US" sz="4320" b="1" dirty="0" err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Контроллинг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это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совокупность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стратегического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управления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планирования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учёта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направленного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достижение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поставленных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целей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5316783"/>
      </p:ext>
    </p:extLst>
  </p:cSld>
  <p:clrMapOvr>
    <a:masterClrMapping/>
  </p:clrMapOvr>
  <p:transition spd="slow">
    <p:push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body" idx="1"/>
          </p:nvPr>
        </p:nvSpPr>
        <p:spPr>
          <a:xfrm>
            <a:off x="2171700" y="428625"/>
            <a:ext cx="9875520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SzPts val="3200"/>
              <a:buNone/>
            </a:pP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системе контроллинга выделяют 2 группы затрат:</a:t>
            </a:r>
            <a:endParaRPr/>
          </a:p>
          <a:p>
            <a:pPr marL="411480">
              <a:spcBef>
                <a:spcPts val="768"/>
              </a:spcBef>
              <a:buClr>
                <a:srgbClr val="00CC00"/>
              </a:buClr>
              <a:buSzPts val="3200"/>
              <a:buFont typeface="Arial"/>
              <a:buAutoNum type="arabicPeriod"/>
            </a:pPr>
            <a:r>
              <a:rPr lang="en-US" sz="3840" b="1">
                <a:solidFill>
                  <a:srgbClr val="00CC00"/>
                </a:solidFill>
                <a:latin typeface="Arial"/>
                <a:ea typeface="Arial"/>
                <a:cs typeface="Arial"/>
                <a:sym typeface="Arial"/>
              </a:rPr>
              <a:t>прямые (чисто производственные) или переменные</a:t>
            </a:r>
            <a:endParaRPr/>
          </a:p>
          <a:p>
            <a:pPr marL="411480">
              <a:spcBef>
                <a:spcPts val="768"/>
              </a:spcBef>
              <a:buClr>
                <a:srgbClr val="7030A0"/>
              </a:buClr>
              <a:buSzPts val="3200"/>
              <a:buFont typeface="Arial"/>
              <a:buAutoNum type="arabicPeriod"/>
            </a:pPr>
            <a:r>
              <a:rPr lang="en-US" sz="384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на организацию и подготовку производства (постоянные)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b="1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6" descr="ItNjU5OTE_crope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4200525"/>
            <a:ext cx="10972800" cy="4029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376965"/>
      </p:ext>
    </p:extLst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body" idx="1"/>
          </p:nvPr>
        </p:nvSpPr>
        <p:spPr>
          <a:xfrm>
            <a:off x="2257424" y="342900"/>
            <a:ext cx="9875520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sz="384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11480">
              <a:spcBef>
                <a:spcPts val="768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 </a:t>
            </a:r>
            <a:r>
              <a:rPr lang="ru-RU" dirty="0" err="1" smtClean="0"/>
              <a:t>тыс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руб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411480">
              <a:spcBef>
                <a:spcPts val="768"/>
              </a:spcBef>
              <a:buSzPts val="3200"/>
              <a:buNone/>
            </a:pP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постоянные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50 </a:t>
            </a:r>
            <a:r>
              <a:rPr lang="ru-RU" dirty="0" err="1" smtClean="0"/>
              <a:t>тыс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руб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dirty="0"/>
          </a:p>
          <a:p>
            <a:pPr marL="411480">
              <a:spcBef>
                <a:spcPts val="768"/>
              </a:spcBef>
              <a:buSzPts val="3200"/>
              <a:buNone/>
            </a:pP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Выручка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 smtClean="0"/>
              <a:t>от реализации продукции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320 </a:t>
            </a:r>
            <a:r>
              <a:rPr lang="ru-RU" dirty="0" err="1" smtClean="0"/>
              <a:t>тыс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руб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11480">
              <a:spcBef>
                <a:spcPts val="768"/>
              </a:spcBef>
              <a:buSzPts val="3200"/>
              <a:buNone/>
            </a:pP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Выручка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320-200 = 120 </a:t>
            </a:r>
            <a:r>
              <a:rPr lang="ru-RU" dirty="0" err="1" smtClean="0"/>
              <a:t>тыс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руб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сумма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покрытия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7" descr="Kak-pisat-nauchniy-tex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4680" y="4286251"/>
            <a:ext cx="5836920" cy="394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016933"/>
      </p:ext>
    </p:extLst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2085974" y="257175"/>
            <a:ext cx="9875520" cy="488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>
              <a:spcBef>
                <a:spcPts val="0"/>
              </a:spcBef>
              <a:buClr>
                <a:srgbClr val="6B6BCF"/>
              </a:buClr>
              <a:buSzPts val="3600"/>
              <a:buNone/>
            </a:pPr>
            <a:r>
              <a:rPr lang="en-US" sz="4320" b="1" dirty="0">
                <a:solidFill>
                  <a:srgbClr val="6B6BC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b="1" dirty="0" err="1">
                <a:solidFill>
                  <a:srgbClr val="6B6BC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Точка</a:t>
            </a:r>
            <a:r>
              <a:rPr lang="en-US" sz="4320" b="1" dirty="0">
                <a:solidFill>
                  <a:srgbClr val="6B6BC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320" b="1" dirty="0" err="1">
                <a:solidFill>
                  <a:srgbClr val="6B6BC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безубыточности</a:t>
            </a:r>
            <a:r>
              <a:rPr lang="en-US" sz="4320" b="1" dirty="0">
                <a:solidFill>
                  <a:srgbClr val="6B6BC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объем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продаж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котором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прибыль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равна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нулю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indent="539114">
              <a:spcBef>
                <a:spcPts val="0"/>
              </a:spcBef>
              <a:buSzPts val="3200"/>
              <a:buNone/>
            </a:pP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Тбезуб</a:t>
            </a:r>
            <a:r>
              <a:rPr lang="en-US" sz="3840" b="1" dirty="0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3840" b="1" dirty="0" err="1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Зпост</a:t>
            </a:r>
            <a:r>
              <a:rPr lang="en-US" sz="3840" b="1" dirty="0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/(</a:t>
            </a:r>
            <a:r>
              <a:rPr lang="en-US" sz="3840" b="1" dirty="0" err="1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Цед-Зпер.ед</a:t>
            </a:r>
            <a:r>
              <a:rPr lang="en-US" sz="3840" b="1" dirty="0">
                <a:solidFill>
                  <a:srgbClr val="B875C5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r>
              <a:rPr lang="en-US" sz="3840" b="1" dirty="0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840" b="1" dirty="0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</a:br>
            <a:endParaRPr lang="ru-RU" sz="3840" b="1" dirty="0">
              <a:solidFill>
                <a:srgbClr val="6B6BC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539114">
              <a:spcBef>
                <a:spcPts val="0"/>
              </a:spcBef>
              <a:buSzPts val="3200"/>
              <a:buNone/>
            </a:pP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Выручка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которой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предприятие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имеет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прибыли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убытков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называется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u="sng" dirty="0" err="1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>порогом</a:t>
            </a:r>
            <a:r>
              <a:rPr lang="en-US" sz="3840" b="1" u="sng" dirty="0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u="sng" dirty="0" err="1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>рентабельности</a:t>
            </a:r>
            <a:r>
              <a:rPr lang="en-US" sz="3840" b="1" dirty="0">
                <a:solidFill>
                  <a:srgbClr val="6B6BC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ru-RU" sz="3840" b="1" dirty="0">
              <a:solidFill>
                <a:srgbClr val="6B6BC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539114">
              <a:spcBef>
                <a:spcPts val="0"/>
              </a:spcBef>
              <a:buSzPts val="3200"/>
              <a:buNone/>
            </a:pPr>
            <a:r>
              <a:rPr lang="be-BY" dirty="0"/>
              <a:t>ПРд = В*Зпост/(В - Зпер</a:t>
            </a:r>
            <a:r>
              <a:rPr lang="be-BY" dirty="0" smtClean="0"/>
              <a:t>)</a:t>
            </a:r>
          </a:p>
          <a:p>
            <a:pPr marL="0" indent="539114">
              <a:spcBef>
                <a:spcPts val="0"/>
              </a:spcBef>
              <a:buSzPts val="3200"/>
              <a:buNone/>
            </a:pPr>
            <a:r>
              <a:rPr lang="ru-RU" dirty="0" err="1" smtClean="0"/>
              <a:t>ПРд</a:t>
            </a:r>
            <a:r>
              <a:rPr lang="ru-RU" dirty="0" smtClean="0"/>
              <a:t>=320*50</a:t>
            </a:r>
            <a:r>
              <a:rPr lang="en-US" dirty="0" smtClean="0"/>
              <a:t>/(320-200)=133,33 </a:t>
            </a:r>
            <a:r>
              <a:rPr lang="ru-RU" dirty="0" err="1" smtClean="0"/>
              <a:t>тыс.р</a:t>
            </a:r>
            <a:r>
              <a:rPr lang="ru-RU" dirty="0" smtClean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5334793"/>
      </p:ext>
    </p:extLst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>
            <a:spLocks noGrp="1"/>
          </p:cNvSpPr>
          <p:nvPr>
            <p:ph type="body" idx="1"/>
          </p:nvPr>
        </p:nvSpPr>
        <p:spPr>
          <a:xfrm>
            <a:off x="2343150" y="342901"/>
            <a:ext cx="9875520" cy="634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42924">
              <a:spcBef>
                <a:spcPts val="0"/>
              </a:spcBef>
              <a:buSzPts val="2800"/>
              <a:buNone/>
            </a:pP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порог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рентабельности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можно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рассчитать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запас</a:t>
            </a:r>
            <a:r>
              <a:rPr lang="en-US" sz="3360" b="1" dirty="0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финансовой</a:t>
            </a:r>
            <a:r>
              <a:rPr lang="en-US" sz="3360" b="1" dirty="0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прочности</a:t>
            </a:r>
            <a:r>
              <a:rPr lang="en-US" sz="3360" b="1" dirty="0">
                <a:solidFill>
                  <a:srgbClr val="66FF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предприятия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абсолютном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относительном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выражении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indent="542924" algn="ctr">
              <a:spcBef>
                <a:spcPts val="0"/>
              </a:spcBef>
              <a:buClr>
                <a:srgbClr val="0000FF"/>
              </a:buClr>
              <a:buSzPts val="2800"/>
              <a:buNone/>
            </a:pPr>
            <a:r>
              <a:rPr lang="en-US" sz="336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ЗФП= </a:t>
            </a:r>
            <a:r>
              <a:rPr lang="en-US" sz="3360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Выручка</a:t>
            </a:r>
            <a:r>
              <a:rPr lang="en-US" sz="336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-ПР</a:t>
            </a:r>
            <a:endParaRPr dirty="0"/>
          </a:p>
          <a:p>
            <a:pPr marL="0" indent="542924">
              <a:spcBef>
                <a:spcPts val="0"/>
              </a:spcBef>
              <a:buSzPts val="2800"/>
              <a:buNone/>
            </a:pP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Например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0" indent="542924">
              <a:spcBef>
                <a:spcPts val="0"/>
              </a:spcBef>
              <a:buSzPts val="2800"/>
              <a:buNone/>
            </a:pP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ЗФП= 320-133,33 = 186,7 </a:t>
            </a:r>
            <a:r>
              <a:rPr lang="ru-RU" sz="3360" dirty="0" err="1">
                <a:latin typeface="Times New Roman"/>
                <a:ea typeface="Times New Roman"/>
                <a:cs typeface="Times New Roman"/>
                <a:sym typeface="Times New Roman"/>
              </a:rPr>
              <a:t>тыс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руб</a:t>
            </a:r>
            <a:endParaRPr dirty="0"/>
          </a:p>
          <a:p>
            <a:pPr marL="0" indent="542924">
              <a:spcBef>
                <a:spcPts val="0"/>
              </a:spcBef>
              <a:buSzPts val="2800"/>
              <a:buNone/>
            </a:pP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ЗФП(%)= 186,7/320*100% = 58,34 %</a:t>
            </a:r>
            <a:endParaRPr dirty="0"/>
          </a:p>
          <a:p>
            <a:pPr marL="0" indent="542924">
              <a:spcBef>
                <a:spcPts val="0"/>
              </a:spcBef>
              <a:buSzPts val="2800"/>
              <a:buNone/>
            </a:pP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Запас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финансовой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прочности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какую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сумму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абсолютном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выражении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или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сколько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процентов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предприятие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снизить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выручку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иметь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убытков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11480" indent="-198120">
              <a:spcBef>
                <a:spcPts val="672"/>
              </a:spcBef>
              <a:buSzPts val="2800"/>
              <a:buNone/>
            </a:pPr>
            <a:endParaRPr sz="336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6252244"/>
      </p:ext>
    </p:extLst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0" descr="Pic1012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3086" y="30062"/>
            <a:ext cx="10978514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0201197" y="7919326"/>
            <a:ext cx="315655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60" dirty="0"/>
              <a:t>Объем производства</a:t>
            </a:r>
            <a:endParaRPr lang="be-BY" sz="2160" dirty="0"/>
          </a:p>
        </p:txBody>
      </p:sp>
      <p:sp>
        <p:nvSpPr>
          <p:cNvPr id="3" name="TextBox 2"/>
          <p:cNvSpPr txBox="1"/>
          <p:nvPr/>
        </p:nvSpPr>
        <p:spPr>
          <a:xfrm>
            <a:off x="2279737" y="556155"/>
            <a:ext cx="1488092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60" dirty="0"/>
              <a:t>Выручка от реализации</a:t>
            </a:r>
            <a:endParaRPr lang="be-BY" sz="2160" dirty="0"/>
          </a:p>
        </p:txBody>
      </p:sp>
      <p:sp>
        <p:nvSpPr>
          <p:cNvPr id="4" name="TextBox 3"/>
          <p:cNvSpPr txBox="1"/>
          <p:nvPr/>
        </p:nvSpPr>
        <p:spPr>
          <a:xfrm>
            <a:off x="9434604" y="992062"/>
            <a:ext cx="248015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60" dirty="0"/>
              <a:t>Общие затраты на производство</a:t>
            </a:r>
            <a:endParaRPr lang="be-BY" sz="2160" dirty="0"/>
          </a:p>
        </p:txBody>
      </p:sp>
      <p:sp>
        <p:nvSpPr>
          <p:cNvPr id="5" name="TextBox 4"/>
          <p:cNvSpPr txBox="1"/>
          <p:nvPr/>
        </p:nvSpPr>
        <p:spPr>
          <a:xfrm>
            <a:off x="8202043" y="3321903"/>
            <a:ext cx="10972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60" dirty="0"/>
              <a:t>А</a:t>
            </a:r>
            <a:endParaRPr lang="be-BY" sz="2160" dirty="0"/>
          </a:p>
        </p:txBody>
      </p:sp>
      <p:sp>
        <p:nvSpPr>
          <p:cNvPr id="6" name="TextBox 5"/>
          <p:cNvSpPr txBox="1"/>
          <p:nvPr/>
        </p:nvSpPr>
        <p:spPr>
          <a:xfrm>
            <a:off x="3858016" y="5486400"/>
            <a:ext cx="108224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60" dirty="0"/>
              <a:t>В</a:t>
            </a:r>
            <a:endParaRPr lang="be-BY" sz="2160" dirty="0"/>
          </a:p>
        </p:txBody>
      </p:sp>
    </p:spTree>
    <p:extLst>
      <p:ext uri="{BB962C8B-B14F-4D97-AF65-F5344CB8AC3E}">
        <p14:creationId xmlns:p14="http://schemas.microsoft.com/office/powerpoint/2010/main" val="444705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7440" y="404720"/>
            <a:ext cx="9875520" cy="1371600"/>
          </a:xfrm>
        </p:spPr>
        <p:txBody>
          <a:bodyPr/>
          <a:lstStyle/>
          <a:p>
            <a:r>
              <a:rPr lang="ru-RU" sz="3840" dirty="0">
                <a:solidFill>
                  <a:srgbClr val="7030A0"/>
                </a:solidFill>
              </a:rPr>
              <a:t>6.Проблемы оптимизации объема и </a:t>
            </a:r>
            <a:r>
              <a:rPr lang="ru-RU" sz="3840" dirty="0">
                <a:solidFill>
                  <a:srgbClr val="7030A0"/>
                </a:solidFill>
              </a:rPr>
              <a:t>структуры затрат </a:t>
            </a:r>
            <a:r>
              <a:rPr lang="ru-RU" sz="3840" dirty="0">
                <a:solidFill>
                  <a:srgbClr val="7030A0"/>
                </a:solidFill>
              </a:rPr>
              <a:t>предприятия и пути их решения</a:t>
            </a:r>
            <a:br>
              <a:rPr lang="ru-RU" sz="3840" dirty="0">
                <a:solidFill>
                  <a:srgbClr val="7030A0"/>
                </a:solidFill>
              </a:rPr>
            </a:br>
            <a:endParaRPr lang="be-BY" sz="3840" dirty="0">
              <a:solidFill>
                <a:srgbClr val="7030A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880" dirty="0"/>
              <a:t>Обоснование норм расходов материальных ресурсов на производство, обеспечивающее минимум безвозвратных отходов</a:t>
            </a:r>
          </a:p>
          <a:p>
            <a:r>
              <a:rPr lang="ru-RU" sz="2880" dirty="0"/>
              <a:t>Развитие безотходных технологий</a:t>
            </a:r>
          </a:p>
          <a:p>
            <a:r>
              <a:rPr lang="ru-RU" sz="2880" dirty="0"/>
              <a:t>Экономия энергии всех видов</a:t>
            </a:r>
          </a:p>
          <a:p>
            <a:r>
              <a:rPr lang="ru-RU" sz="2880" dirty="0"/>
              <a:t>Повышение автоматизации труда</a:t>
            </a:r>
          </a:p>
          <a:p>
            <a:r>
              <a:rPr lang="ru-RU" sz="2880" dirty="0"/>
              <a:t>Повышение эффективности использования основных производственных средств</a:t>
            </a:r>
            <a:endParaRPr lang="ru-RU" sz="2880" dirty="0"/>
          </a:p>
          <a:p>
            <a:endParaRPr lang="ru-RU" sz="2880" dirty="0"/>
          </a:p>
          <a:p>
            <a:endParaRPr lang="be-BY" sz="2880" dirty="0"/>
          </a:p>
        </p:txBody>
      </p:sp>
    </p:spTree>
    <p:extLst>
      <p:ext uri="{BB962C8B-B14F-4D97-AF65-F5344CB8AC3E}">
        <p14:creationId xmlns:p14="http://schemas.microsoft.com/office/powerpoint/2010/main" val="175610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Контрольные вопросы</a:t>
            </a:r>
            <a:endParaRPr lang="be-BY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Перечислите виды </a:t>
            </a:r>
            <a:r>
              <a:rPr lang="ru-RU" smtClean="0"/>
              <a:t>расходов предприятия</a:t>
            </a:r>
          </a:p>
          <a:p>
            <a:r>
              <a:rPr lang="ru-RU" dirty="0" smtClean="0"/>
              <a:t>Назовите группы экономических элементов, в которые объединяются затраты предприятия</a:t>
            </a:r>
          </a:p>
          <a:p>
            <a:r>
              <a:rPr lang="ru-RU" dirty="0" smtClean="0"/>
              <a:t>Назовите затраты, входящие в состав экономического элемента «материальные затраты»</a:t>
            </a:r>
          </a:p>
          <a:p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44577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1371</Words>
  <Application>Microsoft Office PowerPoint</Application>
  <PresentationFormat>Произвольный</PresentationFormat>
  <Paragraphs>150</Paragraphs>
  <Slides>34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Times New Roman</vt:lpstr>
      <vt:lpstr>Calibri Light</vt:lpstr>
      <vt:lpstr>Corsiva</vt:lpstr>
      <vt:lpstr>Calibri</vt:lpstr>
      <vt:lpstr>Arial</vt:lpstr>
      <vt:lpstr>Office Theme</vt:lpstr>
      <vt:lpstr>Тема 5. Управление расходами организации.</vt:lpstr>
      <vt:lpstr>Презентация PowerPoint</vt:lpstr>
      <vt:lpstr>1. Классификация денежных расходов предприятия, их состав и источники  финансирования </vt:lpstr>
      <vt:lpstr>Презентация PowerPoint</vt:lpstr>
      <vt:lpstr>Презентация PowerPoint</vt:lpstr>
      <vt:lpstr>Презентация PowerPoint</vt:lpstr>
      <vt:lpstr>Расходы по текущей деятельности</vt:lpstr>
      <vt:lpstr>Презентация PowerPoint</vt:lpstr>
      <vt:lpstr>Расходы по инвестиционной деятельности</vt:lpstr>
      <vt:lpstr>Презентация PowerPoint</vt:lpstr>
      <vt:lpstr>Расходы по финансовой деятельности</vt:lpstr>
      <vt:lpstr> 2.Затраты на производство. Себестоимость продукции, работ, услуг </vt:lpstr>
      <vt:lpstr>Затраты:</vt:lpstr>
      <vt:lpstr>Содержание себестоимости продукции, работ, услуг</vt:lpstr>
      <vt:lpstr>ОЧЕНЬ ВАЖНО РАЗЛИЧАТЬ</vt:lpstr>
      <vt:lpstr>3. Планирование затрат на производство продукции: смета затрат и калькуляция себестоимости</vt:lpstr>
      <vt:lpstr>Презентация PowerPoint</vt:lpstr>
      <vt:lpstr>Статьи калькуляции:</vt:lpstr>
      <vt:lpstr>Презентация PowerPoint</vt:lpstr>
      <vt:lpstr>Методы планирования</vt:lpstr>
      <vt:lpstr>Презентация PowerPoint</vt:lpstr>
      <vt:lpstr>4. Планирование затрат, приходящихся на объем реализуемой продукции</vt:lpstr>
      <vt:lpstr>Нереализованные остатки готовой продукции включают:</vt:lpstr>
      <vt:lpstr>Презентация PowerPoint</vt:lpstr>
      <vt:lpstr>Презентация PowerPoint</vt:lpstr>
      <vt:lpstr>Решение:</vt:lpstr>
      <vt:lpstr>5. Контроль и регулирование затрат на производство и реализацию продукции, работ, услуг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6.Проблемы оптимизации объема и структуры затрат предприятия и пути их решения </vt:lpstr>
      <vt:lpstr>Контрольные вопросы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Рудковская Ольга Геннадьевна</dc:creator>
  <cp:lastModifiedBy>Рудковская Ольга Геннадьевна</cp:lastModifiedBy>
  <cp:revision>4</cp:revision>
  <dcterms:created xsi:type="dcterms:W3CDTF">2025-10-17T09:57:36Z</dcterms:created>
  <dcterms:modified xsi:type="dcterms:W3CDTF">2025-10-17T11:45:45Z</dcterms:modified>
</cp:coreProperties>
</file>