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Alice" panose="020B0604020202020204" charset="0"/>
      <p:regular r:id="rId18"/>
    </p:embeddedFont>
    <p:embeddedFont>
      <p:font typeface="Lora" panose="020B0604020202020204" charset="-52"/>
      <p:regular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7340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96572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ru-RU" sz="4450" dirty="0" smtClean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Тема 1. Понятие и сущность финансов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723442"/>
            <a:ext cx="7556421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AutoNum type="arabicPeriod"/>
            </a:pPr>
            <a:r>
              <a:rPr lang="ru-RU" sz="175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История финансов. Сущность, функции, принципы финансов. Основные</a:t>
            </a:r>
            <a:r>
              <a:rPr lang="en-US" sz="175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ru-RU" sz="175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сферы финансов: публичные, корпоративные, личные финансы.</a:t>
            </a:r>
            <a:endParaRPr lang="en-US" sz="1750" dirty="0" smtClean="0">
              <a:solidFill>
                <a:srgbClr val="2C2821"/>
              </a:solidFill>
              <a:latin typeface="Lora" pitchFamily="34" charset="0"/>
              <a:ea typeface="Lora" pitchFamily="34" charset="-122"/>
              <a:cs typeface="Lora" pitchFamily="34" charset="-120"/>
            </a:endParaRPr>
          </a:p>
          <a:p>
            <a:pPr marL="342900" indent="-342900">
              <a:lnSpc>
                <a:spcPts val="2850"/>
              </a:lnSpc>
              <a:buAutoNum type="arabicPeriod"/>
            </a:pPr>
            <a:r>
              <a:rPr lang="ru-RU" sz="175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Финансовые ресурсы, как материальная основа постоянного</a:t>
            </a:r>
            <a:r>
              <a:rPr lang="en-US" sz="175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ru-RU" sz="175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функционирования финансов.</a:t>
            </a:r>
            <a:endParaRPr lang="en-US" sz="1750" dirty="0" smtClean="0">
              <a:solidFill>
                <a:srgbClr val="2C2821"/>
              </a:solidFill>
              <a:latin typeface="Lora" pitchFamily="34" charset="0"/>
              <a:ea typeface="Lora" pitchFamily="34" charset="-122"/>
              <a:cs typeface="Lora" pitchFamily="34" charset="-120"/>
            </a:endParaRPr>
          </a:p>
          <a:p>
            <a:pPr marL="342900" indent="-342900">
              <a:lnSpc>
                <a:spcPts val="2850"/>
              </a:lnSpc>
              <a:buAutoNum type="arabicPeriod"/>
            </a:pPr>
            <a:r>
              <a:rPr lang="ru-RU" sz="175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Источники формирования финансовых ресурсов. Взаимосвязь</a:t>
            </a:r>
            <a:r>
              <a:rPr lang="en-US" sz="175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ru-RU" sz="175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финансовых ресурсов государства и хозяйствующих субъектов.</a:t>
            </a:r>
            <a:endParaRPr lang="en-US" sz="1750" dirty="0">
              <a:solidFill>
                <a:srgbClr val="2C2821"/>
              </a:solidFill>
              <a:latin typeface="Lora" pitchFamily="34" charset="0"/>
              <a:ea typeface="Lora" pitchFamily="34" charset="-122"/>
              <a:cs typeface="Lora" pitchFamily="34" charset="-120"/>
            </a:endParaRPr>
          </a:p>
          <a:p>
            <a:pPr marL="342900" indent="-342900">
              <a:lnSpc>
                <a:spcPts val="2850"/>
              </a:lnSpc>
              <a:buAutoNum type="arabicPeriod"/>
            </a:pPr>
            <a:r>
              <a:rPr lang="ru-RU" sz="175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Концепции финансов (временной стоимости денежных средств, риска,</a:t>
            </a:r>
            <a:r>
              <a:rPr lang="en-US" sz="175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ru-RU" sz="175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воспроизводственная и т.д.)</a:t>
            </a:r>
            <a:endParaRPr lang="en-US" sz="175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56416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4366" y="699373"/>
            <a:ext cx="2301478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 smtClean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1. </a:t>
            </a:r>
            <a:r>
              <a:rPr lang="en-US" sz="2000" dirty="0" err="1" smtClean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История</a:t>
            </a:r>
            <a:r>
              <a:rPr lang="en-US" sz="2000" dirty="0" smtClean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2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финансов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4366" y="1171099"/>
            <a:ext cx="8057793" cy="575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От первобытности до современности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4366" y="4629150"/>
            <a:ext cx="13341668" cy="22860"/>
          </a:xfrm>
          <a:prstGeom prst="roundRect">
            <a:avLst>
              <a:gd name="adj" fmla="val 120817"/>
            </a:avLst>
          </a:prstGeom>
          <a:solidFill>
            <a:srgbClr val="D6D3CC"/>
          </a:solidFill>
          <a:ln/>
        </p:spPr>
      </p:sp>
      <p:sp>
        <p:nvSpPr>
          <p:cNvPr id="5" name="Shape 3"/>
          <p:cNvSpPr/>
          <p:nvPr/>
        </p:nvSpPr>
        <p:spPr>
          <a:xfrm>
            <a:off x="3232071" y="4076879"/>
            <a:ext cx="22860" cy="552331"/>
          </a:xfrm>
          <a:prstGeom prst="roundRect">
            <a:avLst>
              <a:gd name="adj" fmla="val 120817"/>
            </a:avLst>
          </a:prstGeom>
          <a:solidFill>
            <a:srgbClr val="D6D3CC"/>
          </a:solidFill>
          <a:ln/>
        </p:spPr>
      </p:sp>
      <p:sp>
        <p:nvSpPr>
          <p:cNvPr id="6" name="Shape 4"/>
          <p:cNvSpPr/>
          <p:nvPr/>
        </p:nvSpPr>
        <p:spPr>
          <a:xfrm>
            <a:off x="3036451" y="4422041"/>
            <a:ext cx="414218" cy="414218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7" name="Text 5"/>
          <p:cNvSpPr/>
          <p:nvPr/>
        </p:nvSpPr>
        <p:spPr>
          <a:xfrm>
            <a:off x="3105448" y="4456509"/>
            <a:ext cx="276106" cy="34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1593056" y="2022515"/>
            <a:ext cx="3301008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Первобытно-общинный строй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8437" y="2420541"/>
            <a:ext cx="4830366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Не было государства – не было и финансов.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6338" y="4629090"/>
            <a:ext cx="22860" cy="552331"/>
          </a:xfrm>
          <a:prstGeom prst="roundRect">
            <a:avLst>
              <a:gd name="adj" fmla="val 120817"/>
            </a:avLst>
          </a:prstGeom>
          <a:solidFill>
            <a:srgbClr val="D6D3CC"/>
          </a:solidFill>
          <a:ln/>
        </p:spPr>
      </p:sp>
      <p:sp>
        <p:nvSpPr>
          <p:cNvPr id="11" name="Shape 9"/>
          <p:cNvSpPr/>
          <p:nvPr/>
        </p:nvSpPr>
        <p:spPr>
          <a:xfrm>
            <a:off x="5750719" y="4422041"/>
            <a:ext cx="414218" cy="414218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12" name="Text 10"/>
          <p:cNvSpPr/>
          <p:nvPr/>
        </p:nvSpPr>
        <p:spPr>
          <a:xfrm>
            <a:off x="5819715" y="4456509"/>
            <a:ext cx="276106" cy="34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4224814" y="5365552"/>
            <a:ext cx="3466148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Рабовладельческое государство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42705" y="5763578"/>
            <a:ext cx="4830485" cy="1766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Возникла необходимость централизации части экономических благ в руках правителей для содержания войска, охраны границ, сохранения власти и т.п. Потребности государства удовлетворялась путем установления различного рода натуральных повинностей и сборов.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60725" y="4076879"/>
            <a:ext cx="22860" cy="552331"/>
          </a:xfrm>
          <a:prstGeom prst="roundRect">
            <a:avLst>
              <a:gd name="adj" fmla="val 120817"/>
            </a:avLst>
          </a:prstGeom>
          <a:solidFill>
            <a:srgbClr val="D6D3CC"/>
          </a:solidFill>
          <a:ln/>
        </p:spPr>
      </p:sp>
      <p:sp>
        <p:nvSpPr>
          <p:cNvPr id="16" name="Shape 14"/>
          <p:cNvSpPr/>
          <p:nvPr/>
        </p:nvSpPr>
        <p:spPr>
          <a:xfrm>
            <a:off x="8465106" y="4422041"/>
            <a:ext cx="414218" cy="414218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17" name="Text 15"/>
          <p:cNvSpPr/>
          <p:nvPr/>
        </p:nvSpPr>
        <p:spPr>
          <a:xfrm>
            <a:off x="8534102" y="4456509"/>
            <a:ext cx="276106" cy="34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6459260" y="2022515"/>
            <a:ext cx="4426029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Развитие товарно-денежных отношений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57092" y="2420541"/>
            <a:ext cx="4830485" cy="147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Государственность и экономика укреплялись. Потребность в централизации части доходов общества увеличилась. Формирование и использование общегосударственного фонда стало носить устойчивый и системный характер.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1375112" y="4629090"/>
            <a:ext cx="22860" cy="552331"/>
          </a:xfrm>
          <a:prstGeom prst="roundRect">
            <a:avLst>
              <a:gd name="adj" fmla="val 120817"/>
            </a:avLst>
          </a:prstGeom>
          <a:solidFill>
            <a:srgbClr val="D6D3CC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79493" y="4422041"/>
            <a:ext cx="414218" cy="414218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22" name="Text 20"/>
          <p:cNvSpPr/>
          <p:nvPr/>
        </p:nvSpPr>
        <p:spPr>
          <a:xfrm>
            <a:off x="11248489" y="4456509"/>
            <a:ext cx="276106" cy="34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10162461" y="5365552"/>
            <a:ext cx="2448520" cy="287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Формирование систем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71478" y="5763578"/>
            <a:ext cx="4830485" cy="147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Постепенно возникли системы государственных доходов и расходов с определенным составом, структурой и законодательным закреплением. Налоги в денежной форме стали основным источником наполнения бюджета.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2692" y="457795"/>
            <a:ext cx="6340554" cy="520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Эволюция бюджетных расходов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582692" y="1394222"/>
            <a:ext cx="2338983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Основные направления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2692" y="1820823"/>
            <a:ext cx="6529388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2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 военные цели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82692" y="2145506"/>
            <a:ext cx="6529388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2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Управление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82692" y="2470190"/>
            <a:ext cx="6529388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2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Поддержание тех или иных сфер экономики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82692" y="2794873"/>
            <a:ext cx="6529388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2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 социальные нужды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2692" y="3211116"/>
            <a:ext cx="6529388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Отношения, связанные с формированием и использованием бюджета стали называться финансовыми отношениями.</a:t>
            </a:r>
            <a:endParaRPr lang="en-US" sz="2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012" y="-53578"/>
            <a:ext cx="6529388" cy="65293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9572" y="6768148"/>
            <a:ext cx="13465016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Крупномасштабное и качественно новое развитие финансовых отношений произошло в 19-20 в. Во всех странах произошло огосударствление значительной части национальных доходов. Государство стало собственником и распорядителем до 50 % его объема.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7306"/>
            <a:ext cx="95354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Влияние государства на экономику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6971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Располагая огромными суммами денежных средств, государство стало оказывать большое влияние на социально-экономическое развитие общества. Значительное развитие получила государственная поддержка экономики.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45066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3493175"/>
            <a:ext cx="340162" cy="4252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0906" y="3528536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Государственные капитальные вложения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4373285"/>
            <a:ext cx="342149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Направляемые в электроэнергетику, угольную, газовую и другие отрасли промышленности, на поддержку сельского хозяйства.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35893" y="345066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0963" y="3493175"/>
            <a:ext cx="340162" cy="4252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73008" y="3528536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Затраты на научно-технический прогресс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973008" y="4373285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Значительно повысились затраты на развитие научно-технического прогресса.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9677995" y="345066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3065" y="3493175"/>
            <a:ext cx="340162" cy="4252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415111" y="3528536"/>
            <a:ext cx="29036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Помощь монополиям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10415111" y="4018955"/>
            <a:ext cx="3421499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Государство стало активно помогать монополиям своей страны в острой конкурентной борьбе на рынке, предоставляя экспортным фирмам, так называемые, экспортные премии.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993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7829" y="3467576"/>
            <a:ext cx="12138065" cy="649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Изменение структуры государственных расходов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727829" y="4429244"/>
            <a:ext cx="13174742" cy="998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Демократизация общественной жизни привела к тому, что произошли существенные изменения в структуре государственных расходов: увеличилась доля расходов на социальные цели общества. Все острее стал ощущаться дефицит бюджетных средств и окончательно сформировался государственный кредит.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27829" y="5661422"/>
            <a:ext cx="13174742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Огромные государственные расходы обусловили необходимость увеличения налоговых поступлений - главного финансового инструмента мобилизации ресурсов в государственный бюджет.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39654" y="6794659"/>
            <a:ext cx="12862917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Таким образом, можно с уверенностью утверждать, что возникновение финансов связано с развитием государства.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27829" y="6560820"/>
            <a:ext cx="22860" cy="800457"/>
          </a:xfrm>
          <a:prstGeom prst="rect">
            <a:avLst/>
          </a:prstGeom>
          <a:solidFill>
            <a:srgbClr val="1B5F39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804" y="831294"/>
            <a:ext cx="13017460" cy="643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Экономическая сущность и необходимость финансов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804" y="1886664"/>
            <a:ext cx="13188791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Экономическая сущность финансов познается на основе дифференциации этой категории с другой родственной категорией – деньги. Деньги – это товар особого рода, стихийно выделившийся в общей массе товаров. Его особенность состоит в том, что он по сути представляет собой всеобщий эквивалент, с помощью которого измеряются затраты труда товаропроизводителей.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0804" y="3312795"/>
            <a:ext cx="2574250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Функции денег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20804" y="3840361"/>
            <a:ext cx="6343174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Меры стоимости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0804" y="4241959"/>
            <a:ext cx="6343174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Средства сбережения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0804" y="4643557"/>
            <a:ext cx="6343174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Средства платежа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0804" y="5010948"/>
            <a:ext cx="6343174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Мировых денег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74042" y="3312795"/>
            <a:ext cx="2574250" cy="321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Финансы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574042" y="3840361"/>
            <a:ext cx="6343174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Финансы представляют собой только специфическую часть денежных отношений, где деньги, присутствуя, не выполняют ни одной из своих классических функций, а используются как инструмент распределения вновь созданной стоимости.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0804" y="6079927"/>
            <a:ext cx="13188791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Распределение также обеспечивает движение части стоимости к потребителям. Распределительные процессы возникают только на второй стадии процесса общественного воспроизводства. Они обеспечивают обособление части созданных доходов в целевые фонды денежных средств: </a:t>
            </a:r>
            <a:r>
              <a:rPr lang="en-US" sz="1600" b="1" u="sng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централизованных</a:t>
            </a: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(функционируют на уровне государства) и </a:t>
            </a:r>
            <a:r>
              <a:rPr lang="en-US" sz="1600" b="1" u="sng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децентрализованных</a:t>
            </a: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(функционируют на уровне микроэкономики).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0334" y="781407"/>
            <a:ext cx="5502473" cy="68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Функции финансов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70334" y="1909405"/>
            <a:ext cx="13089731" cy="70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Предназначение финансов, как уже указывалось, сводится к распределению доходов общества и контролю за распределительными процессами. Поэтому, финансам свойственны две функции: распределительная и контрольная.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0334" y="2861310"/>
            <a:ext cx="6434852" cy="4586764"/>
          </a:xfrm>
          <a:prstGeom prst="roundRect">
            <a:avLst>
              <a:gd name="adj" fmla="val 720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334" y="2861310"/>
            <a:ext cx="121920" cy="4586764"/>
          </a:xfrm>
          <a:prstGeom prst="roundRect">
            <a:avLst>
              <a:gd name="adj" fmla="val 27080"/>
            </a:avLst>
          </a:prstGeom>
          <a:solidFill>
            <a:srgbClr val="1B5F39"/>
          </a:solidFill>
          <a:ln/>
        </p:spPr>
      </p:sp>
      <p:sp>
        <p:nvSpPr>
          <p:cNvPr id="6" name="Text 4"/>
          <p:cNvSpPr/>
          <p:nvPr/>
        </p:nvSpPr>
        <p:spPr>
          <a:xfrm>
            <a:off x="1142762" y="3111818"/>
            <a:ext cx="3809048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Распределительная функция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1142762" y="3587710"/>
            <a:ext cx="5811917" cy="105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Проявляется при распределении национального дохода, когда происходит создание так называемых основных, или первичных доходов.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2762" y="4776311"/>
            <a:ext cx="5811917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Отраслями сферы материального производства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2762" y="5205532"/>
            <a:ext cx="5811917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Отдельными территориями, регионами страны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2762" y="5634752"/>
            <a:ext cx="5811917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Формами собственности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42762" y="6063972"/>
            <a:ext cx="5811917" cy="70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Производственной и непроизводственной сферами экономики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42762" y="6845379"/>
            <a:ext cx="5811917" cy="35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Социальными группами населения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25214" y="2861310"/>
            <a:ext cx="6434852" cy="4586764"/>
          </a:xfrm>
          <a:prstGeom prst="roundRect">
            <a:avLst>
              <a:gd name="adj" fmla="val 720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25214" y="2861310"/>
            <a:ext cx="121920" cy="4586764"/>
          </a:xfrm>
          <a:prstGeom prst="roundRect">
            <a:avLst>
              <a:gd name="adj" fmla="val 27080"/>
            </a:avLst>
          </a:prstGeom>
          <a:solidFill>
            <a:srgbClr val="1B5F39"/>
          </a:solidFill>
          <a:ln/>
        </p:spPr>
      </p:sp>
      <p:sp>
        <p:nvSpPr>
          <p:cNvPr id="15" name="Text 13"/>
          <p:cNvSpPr/>
          <p:nvPr/>
        </p:nvSpPr>
        <p:spPr>
          <a:xfrm>
            <a:off x="7797641" y="3111818"/>
            <a:ext cx="2983111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Контрольная функция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7797641" y="3587710"/>
            <a:ext cx="5811917" cy="1408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Проявляется в контроле за распределением валового внутреннего продукта (ВВП) и национального дохода по соответствующим фондам и расходованием их по целевому назначению.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97641" y="5128498"/>
            <a:ext cx="5811917" cy="105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Реализуется через специальный финансовый аппарат (Министерство финансов, Комитет государственного контроля и др.).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0729"/>
            <a:ext cx="90574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smtClean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2. </a:t>
            </a:r>
            <a:r>
              <a:rPr lang="en-US" sz="4450" dirty="0" err="1" smtClean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Финансовые</a:t>
            </a:r>
            <a:r>
              <a:rPr lang="en-US" sz="4450" dirty="0" smtClean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ресурсы государства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19670"/>
            <a:ext cx="59759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Понятие, состав и источники формирования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81416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Финансовые ресурсы – это совокупность реальных денежных средств, находящихся в распоряжении государства, хозяйствующих субъектов, органов местного самоуправления.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79511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6" name="Text 4"/>
          <p:cNvSpPr/>
          <p:nvPr/>
        </p:nvSpPr>
        <p:spPr>
          <a:xfrm>
            <a:off x="878860" y="383762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530906" y="38729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Денежные средства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30906" y="4363403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Всегда являются денежными средствами.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35893" y="379511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10" name="Text 8"/>
          <p:cNvSpPr/>
          <p:nvPr/>
        </p:nvSpPr>
        <p:spPr>
          <a:xfrm>
            <a:off x="5320963" y="383762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5973008" y="3872984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Собственник или распорядитель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73008" y="4717733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Всегда имеют собственника или лицо, которое распоряжается ими.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77995" y="379511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sp>
        <p:nvSpPr>
          <p:cNvPr id="14" name="Text 12"/>
          <p:cNvSpPr/>
          <p:nvPr/>
        </p:nvSpPr>
        <p:spPr>
          <a:xfrm>
            <a:off x="9763065" y="383762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3"/>
          <p:cNvSpPr/>
          <p:nvPr/>
        </p:nvSpPr>
        <p:spPr>
          <a:xfrm>
            <a:off x="10415111" y="3872984"/>
            <a:ext cx="33888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Целевая направленность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415111" y="4363403"/>
            <a:ext cx="342149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 расширение производства, материальное стимулирование и социальные нужды работников, приобретение оборудования и т.д.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679596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Важнейшим источником финансовых ресурсов государства выступает ВВП.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8188" y="589717"/>
            <a:ext cx="13154025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 smtClean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3. </a:t>
            </a:r>
            <a:r>
              <a:rPr lang="en-US" sz="4150" dirty="0" err="1" smtClean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Централизованные</a:t>
            </a:r>
            <a:r>
              <a:rPr lang="en-US" sz="4150" dirty="0" smtClean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41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и децентрализованные финансовые ресурсы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38188" y="2435185"/>
            <a:ext cx="5127784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u="sng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Централизованные финансовые ресурсы</a:t>
            </a:r>
            <a:endParaRPr lang="en-US" sz="2050" b="1" u="sng" dirty="0"/>
          </a:p>
        </p:txBody>
      </p:sp>
      <p:sp>
        <p:nvSpPr>
          <p:cNvPr id="4" name="Text 2"/>
          <p:cNvSpPr/>
          <p:nvPr/>
        </p:nvSpPr>
        <p:spPr>
          <a:xfrm>
            <a:off x="738188" y="2975491"/>
            <a:ext cx="6319718" cy="236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Денежные поступления, доходы, накопления, образованные в процессе распределения ВВП, части национального богатства, поступлений от внешнеэкономической деятельности, находящиеся в распоряжении государства, аккумулируемые в централизованных фондах денежных средств и используемые на удовлетворение общегосударственных потребностей.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38188" y="5526405"/>
            <a:ext cx="6319718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 составе централизованных финансовых ресурсов основную долю занимают налоговые доходы.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580114" y="2435185"/>
            <a:ext cx="5396746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u="sng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Децентрализованные финансовые ресурсы</a:t>
            </a:r>
            <a:endParaRPr lang="en-US" sz="2050" b="1" u="sng" dirty="0"/>
          </a:p>
        </p:txBody>
      </p:sp>
      <p:sp>
        <p:nvSpPr>
          <p:cNvPr id="7" name="Text 5"/>
          <p:cNvSpPr/>
          <p:nvPr/>
        </p:nvSpPr>
        <p:spPr>
          <a:xfrm>
            <a:off x="7580114" y="2975491"/>
            <a:ext cx="6319718" cy="202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Финансовые ресурсы организаций, индивидуальных предпринимателей – денежные поступления, доходы, которые формируются в процессе распределения стоимости ВВП, находятся в собственности или распоряжении субъектов хозяйствования и используются на расширенное воспроизводство и удовлетворение других их потребностей.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580114" y="5189101"/>
            <a:ext cx="6319718" cy="674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Использование децентрализованных финансовых ресурсов менее регламентировано, чем централизованных ресурсов.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38188" y="6627971"/>
            <a:ext cx="13154025" cy="101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Финансовые ресурсы, вложенные в производство и приносящие прибыль, образуют </a:t>
            </a:r>
            <a:r>
              <a:rPr lang="en-US" sz="1650" b="1" u="sng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капитал. </a:t>
            </a: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Он выступает в </a:t>
            </a:r>
            <a:r>
              <a:rPr lang="en-US" sz="1650" dirty="0" err="1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качестве</a:t>
            </a: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650" dirty="0" err="1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</a:t>
            </a:r>
            <a:r>
              <a:rPr lang="ru-RU" sz="165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и</a:t>
            </a:r>
            <a:r>
              <a:rPr lang="en-US" sz="1650" dirty="0" err="1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ращенной</a:t>
            </a:r>
            <a:r>
              <a:rPr lang="en-US" sz="165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формы финансовых ресурсов и делится на собственный и заемный капитал. Соотношение собственного и заемного капитала образует финансовую структуру капитала.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/>
          <p:nvPr/>
        </p:nvSpPr>
        <p:spPr>
          <a:xfrm>
            <a:off x="738188" y="680399"/>
            <a:ext cx="13227194" cy="236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50"/>
              </a:lnSpc>
            </a:pPr>
            <a:r>
              <a:rPr lang="ru-RU" sz="2000" b="1" u="sng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Источники формирования децентрализованных финансовых ресурсов</a:t>
            </a:r>
          </a:p>
          <a:p>
            <a:pPr>
              <a:lnSpc>
                <a:spcPts val="2650"/>
              </a:lnSpc>
            </a:pPr>
            <a:endParaRPr lang="ru-RU" sz="2000" dirty="0">
              <a:solidFill>
                <a:srgbClr val="2C2821"/>
              </a:solidFill>
              <a:latin typeface="Lora" pitchFamily="34" charset="0"/>
              <a:ea typeface="Lora" pitchFamily="34" charset="-122"/>
              <a:cs typeface="Lora" pitchFamily="34" charset="-120"/>
            </a:endParaRPr>
          </a:p>
          <a:p>
            <a:pPr>
              <a:lnSpc>
                <a:spcPts val="2650"/>
              </a:lnSpc>
            </a:pPr>
            <a:r>
              <a:rPr lang="ru-RU" sz="200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 действующих предприятиях формирование финансовых ресурсов может осуществляться за счет следующих групп источников:</a:t>
            </a:r>
          </a:p>
          <a:p>
            <a:pPr>
              <a:lnSpc>
                <a:spcPts val="2650"/>
              </a:lnSpc>
            </a:pPr>
            <a:endParaRPr lang="ru-RU" sz="2000" dirty="0" smtClean="0">
              <a:solidFill>
                <a:srgbClr val="2C2821"/>
              </a:solidFill>
              <a:latin typeface="Lora" pitchFamily="34" charset="0"/>
              <a:ea typeface="Lora" pitchFamily="34" charset="-122"/>
              <a:cs typeface="Lora" pitchFamily="34" charset="-120"/>
            </a:endParaRPr>
          </a:p>
          <a:p>
            <a:pPr indent="-342900">
              <a:lnSpc>
                <a:spcPts val="2650"/>
              </a:lnSpc>
              <a:buAutoNum type="arabicParenR"/>
            </a:pPr>
            <a:r>
              <a:rPr lang="ru-RU" sz="200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собственных и приравненных к ним средств: прибыли организаций; других форм денежных накоплений; минимальной задолженности по заработной плате работникам, по авансам заказчиков за выполнение определенных работ; по налоговым  и неналоговым платежам, отчислениям;</a:t>
            </a:r>
          </a:p>
          <a:p>
            <a:pPr marL="342900" indent="-342900">
              <a:lnSpc>
                <a:spcPts val="2650"/>
              </a:lnSpc>
              <a:buAutoNum type="arabicParenR"/>
            </a:pPr>
            <a:endParaRPr lang="ru-RU" sz="2000" dirty="0" smtClean="0">
              <a:solidFill>
                <a:srgbClr val="2C2821"/>
              </a:solidFill>
              <a:latin typeface="Lora" pitchFamily="34" charset="0"/>
              <a:ea typeface="Lora" pitchFamily="34" charset="-122"/>
              <a:cs typeface="Lora" pitchFamily="34" charset="-120"/>
            </a:endParaRPr>
          </a:p>
          <a:p>
            <a:pPr>
              <a:lnSpc>
                <a:spcPts val="2650"/>
              </a:lnSpc>
            </a:pPr>
            <a:r>
              <a:rPr lang="ru-RU" sz="200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2) мобилизуемых на финансовом рынке: поступлений от продажи собственных ценных бумаг (акций, облигаций); дивидендов и процентов по ценным бумагам других эмитентов; банковских кредитов; доходов по операциям с иностранной валютой и драгоценными металлами;</a:t>
            </a:r>
          </a:p>
          <a:p>
            <a:pPr>
              <a:lnSpc>
                <a:spcPts val="2650"/>
              </a:lnSpc>
            </a:pPr>
            <a:endParaRPr lang="ru-RU" sz="2000" dirty="0" smtClean="0">
              <a:solidFill>
                <a:srgbClr val="2C2821"/>
              </a:solidFill>
              <a:latin typeface="Lora" pitchFamily="34" charset="0"/>
              <a:ea typeface="Lora" pitchFamily="34" charset="-122"/>
              <a:cs typeface="Lora" pitchFamily="34" charset="-120"/>
            </a:endParaRPr>
          </a:p>
          <a:p>
            <a:pPr>
              <a:lnSpc>
                <a:spcPts val="2650"/>
              </a:lnSpc>
            </a:pPr>
            <a:r>
              <a:rPr lang="ru-RU" sz="200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3) поступающих в порядке перераспределения: сумм страховых возмещений по наступившим рискам; бюджетных субсидий; сумм, поступающих от вышестоящих организаций из отраслевых фондов; паевых (долевых) взносов.</a:t>
            </a:r>
            <a:endParaRPr lang="ru-RU" sz="2000" dirty="0">
              <a:solidFill>
                <a:srgbClr val="2C2821"/>
              </a:solidFill>
              <a:latin typeface="Lora" pitchFamily="34" charset="0"/>
              <a:ea typeface="Lora" pitchFamily="34" charset="-122"/>
              <a:cs typeface="Lora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10780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/>
          <p:nvPr/>
        </p:nvSpPr>
        <p:spPr>
          <a:xfrm>
            <a:off x="1130074" y="822902"/>
            <a:ext cx="13227194" cy="236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50"/>
              </a:lnSpc>
            </a:pPr>
            <a:r>
              <a:rPr lang="ru-RU" sz="280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Итак, подведем итог:</a:t>
            </a:r>
          </a:p>
          <a:p>
            <a:pPr>
              <a:lnSpc>
                <a:spcPts val="2650"/>
              </a:lnSpc>
            </a:pPr>
            <a:endParaRPr lang="ru-RU" sz="2000" dirty="0" smtClean="0">
              <a:solidFill>
                <a:srgbClr val="2C2821"/>
              </a:solidFill>
              <a:latin typeface="Lora" pitchFamily="34" charset="0"/>
              <a:ea typeface="Lora" pitchFamily="34" charset="-122"/>
              <a:cs typeface="Lora" pitchFamily="34" charset="-120"/>
            </a:endParaRPr>
          </a:p>
          <a:p>
            <a:pPr>
              <a:lnSpc>
                <a:spcPts val="2650"/>
              </a:lnSpc>
            </a:pPr>
            <a:r>
              <a:rPr lang="ru-RU" sz="200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1. Каковы исторические условия возникновения финансов? </a:t>
            </a:r>
          </a:p>
          <a:p>
            <a:pPr>
              <a:lnSpc>
                <a:spcPts val="2650"/>
              </a:lnSpc>
            </a:pPr>
            <a:r>
              <a:rPr lang="ru-RU" sz="200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2. В чем состоит социально-экономическая сущность финансов?</a:t>
            </a:r>
          </a:p>
          <a:p>
            <a:pPr>
              <a:lnSpc>
                <a:spcPts val="2650"/>
              </a:lnSpc>
            </a:pPr>
            <a:r>
              <a:rPr lang="ru-RU" sz="200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3. Какие виды денежных отношений включаются в понятие финансов?</a:t>
            </a:r>
          </a:p>
          <a:p>
            <a:pPr>
              <a:lnSpc>
                <a:spcPts val="2650"/>
              </a:lnSpc>
            </a:pPr>
            <a:r>
              <a:rPr lang="ru-RU" sz="200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4. Дайте определение финансов государства. </a:t>
            </a:r>
          </a:p>
          <a:p>
            <a:pPr>
              <a:lnSpc>
                <a:spcPts val="2650"/>
              </a:lnSpc>
            </a:pPr>
            <a:r>
              <a:rPr lang="ru-RU" sz="200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5. Раскройте причины необходимости финансов в условиях рыночных отношений.</a:t>
            </a:r>
          </a:p>
          <a:p>
            <a:pPr>
              <a:lnSpc>
                <a:spcPts val="2650"/>
              </a:lnSpc>
            </a:pPr>
            <a:r>
              <a:rPr lang="ru-RU" sz="200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6. Дайте характеристику распределительной функции финансов. </a:t>
            </a:r>
          </a:p>
          <a:p>
            <a:pPr>
              <a:lnSpc>
                <a:spcPts val="2650"/>
              </a:lnSpc>
            </a:pPr>
            <a:r>
              <a:rPr lang="ru-RU" sz="200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7. Дайте характеристику контрольной функции финансов.</a:t>
            </a:r>
          </a:p>
          <a:p>
            <a:pPr>
              <a:lnSpc>
                <a:spcPts val="2650"/>
              </a:lnSpc>
            </a:pPr>
            <a:r>
              <a:rPr lang="ru-RU" sz="200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9. Раскройте понятие  и содержание финансовых ресурсов государства.</a:t>
            </a:r>
          </a:p>
          <a:p>
            <a:pPr>
              <a:lnSpc>
                <a:spcPts val="2650"/>
              </a:lnSpc>
            </a:pPr>
            <a:r>
              <a:rPr lang="ru-RU" sz="200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10. Назовите источники формирования  централизованных финансовых ресурсов.</a:t>
            </a:r>
          </a:p>
          <a:p>
            <a:pPr>
              <a:lnSpc>
                <a:spcPts val="2650"/>
              </a:lnSpc>
            </a:pPr>
            <a:r>
              <a:rPr lang="ru-RU" sz="200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11. Назовите источники формирования  децентрализованных финансовых ресурсов.</a:t>
            </a:r>
          </a:p>
          <a:p>
            <a:pPr>
              <a:lnSpc>
                <a:spcPts val="2650"/>
              </a:lnSpc>
            </a:pPr>
            <a:r>
              <a:rPr lang="ru-RU" sz="2000" dirty="0" smtClean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12. Как соотносятся между собой категории «финансовые ресурсы»  и «финансовый капитал»</a:t>
            </a:r>
          </a:p>
          <a:p>
            <a:pPr>
              <a:lnSpc>
                <a:spcPts val="2650"/>
              </a:lnSpc>
            </a:pPr>
            <a:endParaRPr lang="ru-RU" sz="2000" dirty="0">
              <a:solidFill>
                <a:srgbClr val="2C2821"/>
              </a:solidFill>
              <a:latin typeface="Lora" pitchFamily="34" charset="0"/>
              <a:ea typeface="Lora" pitchFamily="34" charset="-122"/>
              <a:cs typeface="Lora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16433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1146</Words>
  <Application>Microsoft Office PowerPoint</Application>
  <PresentationFormat>Произвольный</PresentationFormat>
  <Paragraphs>113</Paragraphs>
  <Slides>11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Calibri</vt:lpstr>
      <vt:lpstr>Alice</vt:lpstr>
      <vt:lpstr>Arial</vt:lpstr>
      <vt:lpstr>Lora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Рудковская Ольга Геннадьевна</dc:creator>
  <cp:lastModifiedBy>Рудковская Ольга Геннадьевна</cp:lastModifiedBy>
  <cp:revision>5</cp:revision>
  <dcterms:created xsi:type="dcterms:W3CDTF">2025-08-28T13:44:47Z</dcterms:created>
  <dcterms:modified xsi:type="dcterms:W3CDTF">2025-09-05T13:28:23Z</dcterms:modified>
</cp:coreProperties>
</file>